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74" autoAdjust="0"/>
  </p:normalViewPr>
  <p:slideViewPr>
    <p:cSldViewPr snapToGrid="0">
      <p:cViewPr varScale="1">
        <p:scale>
          <a:sx n="145" d="100"/>
          <a:sy n="145" d="100"/>
        </p:scale>
        <p:origin x="114"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522E2D8-F2E9-4D29-8E78-4539E4DA754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noRot="1" noChangeAspect="1"/>
          </p:cNvSpPr>
          <p:nvPr>
            <p:ph type="sldImg"/>
          </p:nvPr>
        </p:nvSpPr>
        <p:spPr>
          <a:xfrm>
            <a:off x="685800" y="1143000"/>
            <a:ext cx="5485680" cy="3085560"/>
          </a:xfrm>
          <a:prstGeom prst="rect">
            <a:avLst/>
          </a:prstGeom>
          <a:ln w="0">
            <a:noFill/>
          </a:ln>
        </p:spPr>
      </p:sp>
      <p:sp>
        <p:nvSpPr>
          <p:cNvPr id="2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Welcome to our FIFA World Cup Socioeconomic Analysis project, built as a Week 8 Mini-Project by a team of four. This pipeline processes six World Cup editions from 1998 to 2018, combining Kaggle match results with World Bank economic data. The architecture follows the Medallion pattern: Bronze ingestion, Silver cleaning, and a Gold star schema loaded into Azure SQL Server, then visualized in Power BI.</a:t>
            </a:r>
          </a:p>
        </p:txBody>
      </p:sp>
      <p:sp>
        <p:nvSpPr>
          <p:cNvPr id="291"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AFDBA6-7589-4E70-8DBF-3B2F4EF5241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noRot="1" noChangeAspect="1"/>
          </p:cNvSpPr>
          <p:nvPr>
            <p:ph type="sldImg"/>
          </p:nvPr>
        </p:nvSpPr>
        <p:spPr>
          <a:xfrm>
            <a:off x="685800" y="1143000"/>
            <a:ext cx="5486400" cy="3086100"/>
          </a:xfrm>
          <a:prstGeom prst="rect">
            <a:avLst/>
          </a:prstGeom>
          <a:ln w="0">
            <a:noFill/>
          </a:ln>
        </p:spPr>
      </p:sp>
      <p:sp>
        <p:nvSpPr>
          <p:cNvPr id="2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AMINA - Our central question is whether a country's wealth or population size correlates with its World Cup performance. We combined three data sources: the Kaggle FIFA dataset filtered to 1998-2018, and two World Bank indicators — total population and GDP per capita in current US dollars. All three sources are joined in the Gold layer on country name and year, after name standardization in Silver.</a:t>
            </a:r>
          </a:p>
        </p:txBody>
      </p:sp>
      <p:sp>
        <p:nvSpPr>
          <p:cNvPr id="294"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4CEFDB-C185-424F-81A1-B1F1E0B1E652}"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685800" y="1143000"/>
            <a:ext cx="5486400" cy="3086100"/>
          </a:xfrm>
          <a:prstGeom prst="rect">
            <a:avLst/>
          </a:prstGeom>
          <a:ln w="0">
            <a:noFill/>
          </a:ln>
        </p:spPr>
      </p:sp>
      <p:sp>
        <p:nvSpPr>
          <p:cNvPr id="2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AMINA - This is our Sprint 4 board from Jira. The Gold Model epic has three dimension tables in progress by Eva, and the fact table is under review by Robin. Two SQL tasks for Gold table creation and Gold validation queries are in progress. Power BI reports remain in the backlog. The team follows Scrum with feature branches and pull requests for each task.</a:t>
            </a:r>
          </a:p>
        </p:txBody>
      </p:sp>
      <p:sp>
        <p:nvSpPr>
          <p:cNvPr id="297"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6635E49-C883-4628-B55B-E6C5B47C78E7}"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noRot="1" noChangeAspect="1"/>
          </p:cNvSpPr>
          <p:nvPr>
            <p:ph type="sldImg"/>
          </p:nvPr>
        </p:nvSpPr>
        <p:spPr>
          <a:xfrm>
            <a:off x="685800" y="1143000"/>
            <a:ext cx="5486400" cy="3086100"/>
          </a:xfrm>
          <a:prstGeom prst="rect">
            <a:avLst/>
          </a:prstGeom>
          <a:ln w="0">
            <a:noFill/>
          </a:ln>
        </p:spPr>
      </p:sp>
      <p:sp>
        <p:nvSpPr>
          <p:cNvPr id="2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Our pipeline follows the Medallion Architecture pattern. Bronze ingests raw CSV files with zero transformation, only adding provenance metadata: source name, load timestamp, and a UUID run identifier. Silver cleans and standardizes the data, including a key step of splitting the UK into four nations using ONS census shares. Gold transforms everything into a star schema loaded into Azure SQL Server via SQLAlchemy. Power BI connects directly to the Gold layer for reporting.</a:t>
            </a:r>
          </a:p>
        </p:txBody>
      </p:sp>
      <p:sp>
        <p:nvSpPr>
          <p:cNvPr id="300"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D461346-785D-4145-8EC4-659F284AF27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685800" y="1143000"/>
            <a:ext cx="5485680" cy="3085560"/>
          </a:xfrm>
          <a:prstGeom prst="rect">
            <a:avLst/>
          </a:prstGeom>
          <a:ln w="0">
            <a:noFill/>
          </a:ln>
        </p:spPr>
      </p:sp>
      <p:sp>
        <p:nvSpPr>
          <p:cNvPr id="3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Two Python notebooks handle Silver cleaning. The World Cup notebook filters to 1998-2018, fixes four team name typos (China PR to China, FR Yugoslavia to Serbia, </a:t>
            </a:r>
            <a:r>
              <a:rPr lang="en-US" sz="2000" b="0" u="none" strike="noStrike" dirty="0" err="1">
                <a:solidFill>
                  <a:srgbClr val="000000"/>
                </a:solidFill>
                <a:effectLst/>
                <a:uFillTx/>
                <a:latin typeface="Arial"/>
              </a:rPr>
              <a:t>Portagul</a:t>
            </a:r>
            <a:r>
              <a:rPr lang="en-US" sz="2000" b="0" u="none" strike="noStrike" dirty="0">
                <a:solidFill>
                  <a:srgbClr val="000000"/>
                </a:solidFill>
                <a:effectLst/>
                <a:uFillTx/>
                <a:latin typeface="Arial"/>
              </a:rPr>
              <a:t> to Portugal, Columbia to Colombia), then quarantines rows with missing date or year. The socioeconomics notebook unpivots World Bank wide format to long, applies a 60-entry country name mapping, splits the UK into four nations using ONS census shares (England 84%, Scotland 8.4%, Wales 4.7%, Northern Ireland 2.9%), then separates valid from rejected rows.</a:t>
            </a:r>
          </a:p>
        </p:txBody>
      </p:sp>
      <p:sp>
        <p:nvSpPr>
          <p:cNvPr id="303"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D6B013C-B5FF-4269-96C4-42796C9F916E}"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685800" y="1143000"/>
            <a:ext cx="5486400" cy="3086100"/>
          </a:xfrm>
          <a:prstGeom prst="rect">
            <a:avLst/>
          </a:prstGeom>
          <a:ln w="0">
            <a:noFill/>
          </a:ln>
        </p:spPr>
      </p:sp>
      <p:sp>
        <p:nvSpPr>
          <p:cNvPr id="3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SEBASTIEN - We use a quarantine pattern rather than silently dropping bad rows. Six priority rules assign a </a:t>
            </a:r>
            <a:r>
              <a:rPr lang="en-US" sz="2000" b="0" u="none" strike="noStrike" dirty="0" err="1">
                <a:solidFill>
                  <a:srgbClr val="000000"/>
                </a:solidFill>
                <a:effectLst/>
                <a:uFillTx/>
                <a:latin typeface="Arial"/>
              </a:rPr>
              <a:t>review_reason</a:t>
            </a:r>
            <a:r>
              <a:rPr lang="en-US" sz="2000" b="0" u="none" strike="noStrike" dirty="0">
                <a:solidFill>
                  <a:srgbClr val="000000"/>
                </a:solidFill>
                <a:effectLst/>
                <a:uFillTx/>
                <a:latin typeface="Arial"/>
              </a:rPr>
              <a:t> column: missing country name, missing country code, missing population, missing GDP, then negative values. The UK split is a key design decision — the World Bank reports the UK as one entity but four national teams compete separately. GDP per capita is kept identical across all four nations since it is a per-person metric unchanged by population splitting. North Korea is the only exclusion due to missing World Bank GDP data.</a:t>
            </a:r>
          </a:p>
        </p:txBody>
      </p:sp>
      <p:sp>
        <p:nvSpPr>
          <p:cNvPr id="306"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2DA4AF9-4C68-4018-A894-B0195AE758BC}"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685800" y="1143000"/>
            <a:ext cx="5486400" cy="3086100"/>
          </a:xfrm>
          <a:prstGeom prst="rect">
            <a:avLst/>
          </a:prstGeom>
          <a:ln w="0">
            <a:noFill/>
          </a:ln>
        </p:spPr>
      </p:sp>
      <p:sp>
        <p:nvSpPr>
          <p:cNvPr id="3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The Gold layer uses a classic star schema. The fact table grain is one row per country per match, giving 768 rows across six tournaments — 384 matches times two teams. Key computed columns: performance_stars rates the furthest stage reached from one to six, and is_host correctly handles the 2002 co-hosted tournament. dim_country is a role-playing dimension used twice — once for the team country and once for the host country. North Korea has three null rows for population and GDP, a documented exclusion since the World Bank has no GDP data for them.</a:t>
            </a:r>
          </a:p>
        </p:txBody>
      </p:sp>
      <p:sp>
        <p:nvSpPr>
          <p:cNvPr id="309"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915D3F-7BD6-4150-9304-F2CAA5789994}"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noRot="1" noChangeAspect="1"/>
          </p:cNvSpPr>
          <p:nvPr>
            <p:ph type="sldImg"/>
          </p:nvPr>
        </p:nvSpPr>
        <p:spPr>
          <a:xfrm>
            <a:off x="685800" y="1143000"/>
            <a:ext cx="5486400" cy="3086100"/>
          </a:xfrm>
          <a:prstGeom prst="rect">
            <a:avLst/>
          </a:prstGeom>
          <a:ln w="0">
            <a:noFill/>
          </a:ln>
        </p:spPr>
      </p:sp>
      <p:sp>
        <p:nvSpPr>
          <p:cNvPr id="3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SEBASTIEN - We ran two validation layers. The Silver cross-check notebook runs ten quality topics after every pipeline execution, surfacing issues like unexpected nulls, business key duplicates, and country name mismatches. The Gold SQL stored procedure runs seven automated checks and logs results to the </a:t>
            </a:r>
            <a:r>
              <a:rPr lang="en-US" sz="2000" b="0" u="none" strike="noStrike" dirty="0" err="1">
                <a:solidFill>
                  <a:srgbClr val="000000"/>
                </a:solidFill>
                <a:effectLst/>
                <a:uFillTx/>
                <a:latin typeface="Arial"/>
              </a:rPr>
              <a:t>etl_golden_logs</a:t>
            </a:r>
            <a:r>
              <a:rPr lang="en-US" sz="2000" b="0" u="none" strike="noStrike" dirty="0">
                <a:solidFill>
                  <a:srgbClr val="000000"/>
                </a:solidFill>
                <a:effectLst/>
                <a:uFillTx/>
                <a:latin typeface="Arial"/>
              </a:rPr>
              <a:t> table. All checks pass. The only expected anomaly is three null rows for North Korea, documented as an intentional exclusion.</a:t>
            </a:r>
          </a:p>
        </p:txBody>
      </p:sp>
      <p:sp>
        <p:nvSpPr>
          <p:cNvPr id="312"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CED69C8-7F29-4586-B421-F8C2DECBF38C}"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noRot="1" noChangeAspect="1"/>
          </p:cNvSpPr>
          <p:nvPr>
            <p:ph type="sldImg"/>
          </p:nvPr>
        </p:nvSpPr>
        <p:spPr>
          <a:xfrm>
            <a:off x="685800" y="1143000"/>
            <a:ext cx="5486400" cy="3086100"/>
          </a:xfrm>
          <a:prstGeom prst="rect">
            <a:avLst/>
          </a:prstGeom>
          <a:ln w="0">
            <a:noFill/>
          </a:ln>
        </p:spPr>
      </p:sp>
      <p:sp>
        <p:nvSpPr>
          <p:cNvPr id="3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The pipeline delivers 768 fact rows to Azure SQL Server, ready for Power BI analysis. Page one shows tournament performance by country with the performance_stars ranking and the host advantage question. Page two is a GDP versus performance scatter plot. Known limitations include North Korea missing GDP data, UK GDP not split by constituent nation, and the scope ending at 2018. Given more time, we would add incremental loading, an Apache Airflow DAG, sub-UK GDP estimates, and the 2022 World Cup data.</a:t>
            </a:r>
          </a:p>
        </p:txBody>
      </p:sp>
      <p:sp>
        <p:nvSpPr>
          <p:cNvPr id="315"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CC01201-17B2-4282-9FA5-7455356FADA0}"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noRot="1" noChangeAspect="1"/>
          </p:cNvSpPr>
          <p:nvPr>
            <p:ph type="sldImg"/>
          </p:nvPr>
        </p:nvSpPr>
        <p:spPr>
          <a:xfrm>
            <a:off x="215900" y="812800"/>
            <a:ext cx="7126288" cy="4008438"/>
          </a:xfrm>
          <a:prstGeom prst="rect">
            <a:avLst/>
          </a:prstGeom>
          <a:ln w="0">
            <a:noFill/>
          </a:ln>
        </p:spPr>
      </p:sp>
      <p:sp>
        <p:nvSpPr>
          <p:cNvPr id="317"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gn="l">
              <a:lnSpc>
                <a:spcPct val="100000"/>
              </a:lnSpc>
              <a:buNone/>
            </a:pPr>
            <a:r>
              <a:rPr lang="en-US" sz="2000" b="0" u="none" strike="noStrike">
                <a:solidFill>
                  <a:srgbClr val="000000"/>
                </a:solidFill>
                <a:effectLst/>
                <a:uFillTx/>
                <a:latin typeface="Arial"/>
              </a:rPr>
              <a:t>This slide reflects on the project as a whole. Agile with Jira enabled parallel progress and clear task ownership. GitHub ensured traceability and quality through peer review. Key improvements would focus on automation and data quality gates at ingestion. Future steps could extend this into a full predictive analytics platform covering all World Cup history.</a:t>
            </a:r>
          </a:p>
        </p:txBody>
      </p:sp>
      <p:sp>
        <p:nvSpPr>
          <p:cNvPr id="318" name="PlaceHolder 3"/>
          <p:cNvSpPr>
            <a:spLocks noGrp="1"/>
          </p:cNvSpPr>
          <p:nvPr>
            <p:ph type="sldNum" idx="13"/>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181BE99-17EC-4D40-B44D-E7BE94A45253}" type="slidenum">
              <a:rPr lang="en-US" sz="1400" b="0" u="none" strike="noStrike">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D4E"/>
        </a:solidFill>
        <a:effectLst/>
      </p:bgPr>
    </p:bg>
    <p:spTree>
      <p:nvGrpSpPr>
        <p:cNvPr id="1" name=""/>
        <p:cNvGrpSpPr/>
        <p:nvPr/>
      </p:nvGrpSpPr>
      <p:grpSpPr>
        <a:xfrm>
          <a:off x="0" y="0"/>
          <a:ext cx="0" cy="0"/>
          <a:chOff x="0" y="0"/>
          <a:chExt cx="0" cy="0"/>
        </a:xfrm>
      </p:grpSpPr>
      <p:sp>
        <p:nvSpPr>
          <p:cNvPr id="10" name="Shape 0"/>
          <p:cNvSpPr/>
          <p:nvPr/>
        </p:nvSpPr>
        <p:spPr>
          <a:xfrm>
            <a:off x="6949440" y="182880"/>
            <a:ext cx="2742480" cy="2742480"/>
          </a:xfrm>
          <a:prstGeom prst="ellipse">
            <a:avLst/>
          </a:prstGeom>
          <a:solidFill>
            <a:srgbClr val="0D9488">
              <a:alpha val="14000"/>
            </a:srgbClr>
          </a:solidFill>
          <a:ln w="12700">
            <a:solidFill>
              <a:srgbClr val="0D9488">
                <a:alpha val="1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1"/>
          <p:cNvSpPr/>
          <p:nvPr/>
        </p:nvSpPr>
        <p:spPr>
          <a:xfrm>
            <a:off x="7589520" y="3108960"/>
            <a:ext cx="1645200" cy="1645200"/>
          </a:xfrm>
          <a:prstGeom prst="ellipse">
            <a:avLst/>
          </a:prstGeom>
          <a:solidFill>
            <a:srgbClr val="0D9488">
              <a:alpha val="18000"/>
            </a:srgbClr>
          </a:solidFill>
          <a:ln w="12700">
            <a:solidFill>
              <a:srgbClr val="0D9488">
                <a:alpha val="22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Text 2"/>
          <p:cNvSpPr/>
          <p:nvPr/>
        </p:nvSpPr>
        <p:spPr>
          <a:xfrm>
            <a:off x="640080" y="868680"/>
            <a:ext cx="6857280" cy="77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400" b="1" u="none" strike="noStrike">
                <a:solidFill>
                  <a:srgbClr val="FFFFFF"/>
                </a:solidFill>
                <a:effectLst/>
                <a:uFillTx/>
                <a:latin typeface="Calibri"/>
                <a:ea typeface="Calibri"/>
              </a:rPr>
              <a:t>FIFA World Cup</a:t>
            </a:r>
            <a:endParaRPr lang="en-US" sz="4400" b="0" u="none" strike="noStrike">
              <a:solidFill>
                <a:srgbClr val="FFFFFF"/>
              </a:solidFill>
              <a:effectLst/>
              <a:uFillTx/>
              <a:latin typeface="Arial"/>
            </a:endParaRPr>
          </a:p>
        </p:txBody>
      </p:sp>
      <p:sp>
        <p:nvSpPr>
          <p:cNvPr id="13" name="Text 3"/>
          <p:cNvSpPr/>
          <p:nvPr/>
        </p:nvSpPr>
        <p:spPr>
          <a:xfrm>
            <a:off x="640080" y="1600200"/>
            <a:ext cx="6857280" cy="77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400" b="1" u="none" strike="noStrike">
                <a:solidFill>
                  <a:srgbClr val="0D9488"/>
                </a:solidFill>
                <a:effectLst/>
                <a:uFillTx/>
                <a:latin typeface="Calibri"/>
                <a:ea typeface="Calibri"/>
              </a:rPr>
              <a:t>Socioeconomic Analysis</a:t>
            </a:r>
            <a:endParaRPr lang="en-US" sz="4400" b="0" u="none" strike="noStrike">
              <a:solidFill>
                <a:srgbClr val="FFFFFF"/>
              </a:solidFill>
              <a:effectLst/>
              <a:uFillTx/>
              <a:latin typeface="Arial"/>
            </a:endParaRPr>
          </a:p>
        </p:txBody>
      </p:sp>
      <p:sp>
        <p:nvSpPr>
          <p:cNvPr id="14" name="Text 4"/>
          <p:cNvSpPr/>
          <p:nvPr/>
        </p:nvSpPr>
        <p:spPr>
          <a:xfrm>
            <a:off x="640080" y="2487240"/>
            <a:ext cx="6857280" cy="346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94A3B8"/>
                </a:solidFill>
                <a:effectLst/>
                <a:uFillTx/>
                <a:latin typeface="Calibri"/>
                <a:ea typeface="Calibri"/>
              </a:rPr>
              <a:t>1998 – 2018  |  Medallion Pipeline  |  Week 8 Mini-Project</a:t>
            </a:r>
            <a:endParaRPr lang="en-US" sz="1500" b="0" u="none" strike="noStrike">
              <a:solidFill>
                <a:srgbClr val="FFFFFF"/>
              </a:solidFill>
              <a:effectLst/>
              <a:uFillTx/>
              <a:latin typeface="Arial"/>
            </a:endParaRPr>
          </a:p>
        </p:txBody>
      </p:sp>
      <p:sp>
        <p:nvSpPr>
          <p:cNvPr id="15" name="Shape 5"/>
          <p:cNvSpPr/>
          <p:nvPr/>
        </p:nvSpPr>
        <p:spPr>
          <a:xfrm>
            <a:off x="640080" y="2944440"/>
            <a:ext cx="4571280" cy="36000"/>
          </a:xfrm>
          <a:prstGeom prst="rect">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8280" rIns="90000" bIns="-8280" anchor="t">
            <a:noAutofit/>
          </a:bodyPr>
          <a:lstStyle/>
          <a:p>
            <a:endParaRPr lang="en-US" sz="1800" b="0" u="none" strike="noStrike">
              <a:solidFill>
                <a:srgbClr val="FFFFFF"/>
              </a:solidFill>
              <a:effectLst/>
              <a:uFillTx/>
              <a:latin typeface="Arial"/>
            </a:endParaRPr>
          </a:p>
        </p:txBody>
      </p:sp>
      <p:sp>
        <p:nvSpPr>
          <p:cNvPr id="16" name="Text 6"/>
          <p:cNvSpPr/>
          <p:nvPr/>
        </p:nvSpPr>
        <p:spPr>
          <a:xfrm>
            <a:off x="640080" y="3108960"/>
            <a:ext cx="685728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0" u="none" strike="noStrike">
                <a:solidFill>
                  <a:srgbClr val="CBD5E1"/>
                </a:solidFill>
                <a:effectLst/>
                <a:uFillTx/>
                <a:latin typeface="Calibri"/>
                <a:ea typeface="Calibri"/>
              </a:rPr>
              <a:t>Team of 4  |  Python · Azure SQL Server · Pandas · Power BI</a:t>
            </a:r>
            <a:endParaRPr lang="en-US" sz="1300" b="0" u="none" strike="noStrike">
              <a:solidFill>
                <a:srgbClr val="FFFFFF"/>
              </a:solidFill>
              <a:effectLst/>
              <a:uFillTx/>
              <a:latin typeface="Arial"/>
            </a:endParaRPr>
          </a:p>
        </p:txBody>
      </p:sp>
      <p:sp>
        <p:nvSpPr>
          <p:cNvPr id="17" name="Shape 7"/>
          <p:cNvSpPr/>
          <p:nvPr/>
        </p:nvSpPr>
        <p:spPr>
          <a:xfrm>
            <a:off x="640080" y="4462200"/>
            <a:ext cx="1736640" cy="273600"/>
          </a:xfrm>
          <a:prstGeom prst="roundRect">
            <a:avLst>
              <a:gd name="adj" fmla="val 16667"/>
            </a:avLst>
          </a:prstGeom>
          <a:solidFill>
            <a:srgbClr val="0D9488">
              <a:alpha val="28000"/>
            </a:srgbClr>
          </a:solidFill>
          <a:ln w="12700">
            <a:solidFill>
              <a:srgbClr val="0D9488">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 name="Text 8"/>
          <p:cNvSpPr/>
          <p:nvPr/>
        </p:nvSpPr>
        <p:spPr>
          <a:xfrm>
            <a:off x="640080" y="4457880"/>
            <a:ext cx="1736640" cy="28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E0F2FE"/>
                </a:solidFill>
                <a:effectLst/>
                <a:uFillTx/>
                <a:latin typeface="Calibri"/>
                <a:ea typeface="Calibri"/>
              </a:rPr>
              <a:t>Python / Pandas</a:t>
            </a:r>
            <a:endParaRPr lang="en-US" sz="1000" b="0" u="none" strike="noStrike">
              <a:solidFill>
                <a:srgbClr val="FFFFFF"/>
              </a:solidFill>
              <a:effectLst/>
              <a:uFillTx/>
              <a:latin typeface="Arial"/>
            </a:endParaRPr>
          </a:p>
        </p:txBody>
      </p:sp>
      <p:sp>
        <p:nvSpPr>
          <p:cNvPr id="19" name="Shape 9"/>
          <p:cNvSpPr/>
          <p:nvPr/>
        </p:nvSpPr>
        <p:spPr>
          <a:xfrm>
            <a:off x="2505600" y="4462200"/>
            <a:ext cx="1242720" cy="273600"/>
          </a:xfrm>
          <a:prstGeom prst="roundRect">
            <a:avLst>
              <a:gd name="adj" fmla="val 16667"/>
            </a:avLst>
          </a:prstGeom>
          <a:solidFill>
            <a:srgbClr val="0D9488">
              <a:alpha val="28000"/>
            </a:srgbClr>
          </a:solidFill>
          <a:ln w="12700">
            <a:solidFill>
              <a:srgbClr val="0D9488">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Text 10"/>
          <p:cNvSpPr/>
          <p:nvPr/>
        </p:nvSpPr>
        <p:spPr>
          <a:xfrm>
            <a:off x="2505600" y="4457880"/>
            <a:ext cx="1242720" cy="28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E0F2FE"/>
                </a:solidFill>
                <a:effectLst/>
                <a:uFillTx/>
                <a:latin typeface="Calibri"/>
                <a:ea typeface="Calibri"/>
              </a:rPr>
              <a:t>SQLAlchemy</a:t>
            </a:r>
            <a:endParaRPr lang="en-US" sz="1000" b="0" u="none" strike="noStrike">
              <a:solidFill>
                <a:srgbClr val="FFFFFF"/>
              </a:solidFill>
              <a:effectLst/>
              <a:uFillTx/>
              <a:latin typeface="Arial"/>
            </a:endParaRPr>
          </a:p>
        </p:txBody>
      </p:sp>
      <p:sp>
        <p:nvSpPr>
          <p:cNvPr id="21" name="Shape 11"/>
          <p:cNvSpPr/>
          <p:nvPr/>
        </p:nvSpPr>
        <p:spPr>
          <a:xfrm>
            <a:off x="3877200" y="4462200"/>
            <a:ext cx="1144080" cy="273600"/>
          </a:xfrm>
          <a:prstGeom prst="roundRect">
            <a:avLst>
              <a:gd name="adj" fmla="val 16667"/>
            </a:avLst>
          </a:prstGeom>
          <a:solidFill>
            <a:srgbClr val="0D9488">
              <a:alpha val="28000"/>
            </a:srgbClr>
          </a:solidFill>
          <a:ln w="12700">
            <a:solidFill>
              <a:srgbClr val="0D9488">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 name="Text 12"/>
          <p:cNvSpPr/>
          <p:nvPr/>
        </p:nvSpPr>
        <p:spPr>
          <a:xfrm>
            <a:off x="3877200" y="4457880"/>
            <a:ext cx="1144080" cy="28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E0F2FE"/>
                </a:solidFill>
                <a:effectLst/>
                <a:uFillTx/>
                <a:latin typeface="Calibri"/>
                <a:ea typeface="Calibri"/>
              </a:rPr>
              <a:t>Azure SQL</a:t>
            </a:r>
            <a:endParaRPr lang="en-US" sz="1000" b="0" u="none" strike="noStrike">
              <a:solidFill>
                <a:srgbClr val="FFFFFF"/>
              </a:solidFill>
              <a:effectLst/>
              <a:uFillTx/>
              <a:latin typeface="Arial"/>
            </a:endParaRPr>
          </a:p>
        </p:txBody>
      </p:sp>
      <p:sp>
        <p:nvSpPr>
          <p:cNvPr id="23" name="Shape 13"/>
          <p:cNvSpPr/>
          <p:nvPr/>
        </p:nvSpPr>
        <p:spPr>
          <a:xfrm>
            <a:off x="5149800" y="4462200"/>
            <a:ext cx="1341720" cy="273600"/>
          </a:xfrm>
          <a:prstGeom prst="roundRect">
            <a:avLst>
              <a:gd name="adj" fmla="val 16667"/>
            </a:avLst>
          </a:prstGeom>
          <a:solidFill>
            <a:srgbClr val="0D9488">
              <a:alpha val="28000"/>
            </a:srgbClr>
          </a:solidFill>
          <a:ln w="12700">
            <a:solidFill>
              <a:srgbClr val="0D9488">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 name="Text 14"/>
          <p:cNvSpPr/>
          <p:nvPr/>
        </p:nvSpPr>
        <p:spPr>
          <a:xfrm>
            <a:off x="5149800" y="4457880"/>
            <a:ext cx="1341720" cy="28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E0F2FE"/>
                </a:solidFill>
                <a:effectLst/>
                <a:uFillTx/>
                <a:latin typeface="Calibri"/>
                <a:ea typeface="Calibri"/>
              </a:rPr>
              <a:t>Git / Scrum</a:t>
            </a:r>
            <a:endParaRPr lang="en-US" sz="1000" b="0" u="none" strike="noStrike">
              <a:solidFill>
                <a:srgbClr val="FFFFFF"/>
              </a:solidFill>
              <a:effectLst/>
              <a:uFillTx/>
              <a:latin typeface="Arial"/>
            </a:endParaRPr>
          </a:p>
        </p:txBody>
      </p:sp>
      <p:sp>
        <p:nvSpPr>
          <p:cNvPr id="25" name="Shape 15"/>
          <p:cNvSpPr/>
          <p:nvPr/>
        </p:nvSpPr>
        <p:spPr>
          <a:xfrm>
            <a:off x="6620400" y="4462200"/>
            <a:ext cx="1045440" cy="273600"/>
          </a:xfrm>
          <a:prstGeom prst="roundRect">
            <a:avLst>
              <a:gd name="adj" fmla="val 16667"/>
            </a:avLst>
          </a:prstGeom>
          <a:solidFill>
            <a:srgbClr val="0D9488">
              <a:alpha val="28000"/>
            </a:srgbClr>
          </a:solidFill>
          <a:ln w="12700">
            <a:solidFill>
              <a:srgbClr val="0D9488">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6"/>
          <p:cNvSpPr/>
          <p:nvPr/>
        </p:nvSpPr>
        <p:spPr>
          <a:xfrm>
            <a:off x="6620400" y="4457880"/>
            <a:ext cx="1045440" cy="28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E0F2FE"/>
                </a:solidFill>
                <a:effectLst/>
                <a:uFillTx/>
                <a:latin typeface="Calibri"/>
                <a:ea typeface="Calibri"/>
              </a:rPr>
              <a:t>Power BI</a:t>
            </a:r>
            <a:endParaRPr lang="en-US" sz="10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7" name="Text 0"/>
          <p:cNvSpPr/>
          <p:nvPr/>
        </p:nvSpPr>
        <p:spPr>
          <a:xfrm>
            <a:off x="457200" y="16452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Problem Statement &amp; Data Sources</a:t>
            </a:r>
            <a:endParaRPr lang="en-US" sz="2600" b="0" u="none" strike="noStrike">
              <a:solidFill>
                <a:srgbClr val="000000"/>
              </a:solidFill>
              <a:effectLst/>
              <a:uFillTx/>
              <a:latin typeface="Arial"/>
            </a:endParaRPr>
          </a:p>
        </p:txBody>
      </p:sp>
      <p:sp>
        <p:nvSpPr>
          <p:cNvPr id="28" name="Shape 1"/>
          <p:cNvSpPr/>
          <p:nvPr/>
        </p:nvSpPr>
        <p:spPr>
          <a:xfrm>
            <a:off x="365760" y="749880"/>
            <a:ext cx="3839760" cy="1736640"/>
          </a:xfrm>
          <a:prstGeom prst="roundRect">
            <a:avLst>
              <a:gd name="adj" fmla="val 5263"/>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 name="Text 2"/>
          <p:cNvSpPr/>
          <p:nvPr/>
        </p:nvSpPr>
        <p:spPr>
          <a:xfrm>
            <a:off x="530280" y="82296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Business Question</a:t>
            </a:r>
            <a:endParaRPr lang="en-US" sz="1100" b="0" u="none" strike="noStrike">
              <a:solidFill>
                <a:srgbClr val="000000"/>
              </a:solidFill>
              <a:effectLst/>
              <a:uFillTx/>
              <a:latin typeface="Arial"/>
            </a:endParaRPr>
          </a:p>
        </p:txBody>
      </p:sp>
      <p:sp>
        <p:nvSpPr>
          <p:cNvPr id="30" name="Text 3"/>
          <p:cNvSpPr/>
          <p:nvPr/>
        </p:nvSpPr>
        <p:spPr>
          <a:xfrm>
            <a:off x="530280" y="1115640"/>
            <a:ext cx="3565440" cy="12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300" b="0" u="none" strike="noStrike">
                <a:solidFill>
                  <a:srgbClr val="1E293B"/>
                </a:solidFill>
                <a:effectLst/>
                <a:uFillTx/>
                <a:latin typeface="Calibri"/>
                <a:ea typeface="Calibri"/>
              </a:rPr>
              <a:t>Does a country's economic profile (GDP per capita, population) correlate with its FIFA World Cup performance between 1998 and 2018?</a:t>
            </a:r>
            <a:endParaRPr lang="en-US" sz="1300" b="0" u="none" strike="noStrike">
              <a:solidFill>
                <a:srgbClr val="000000"/>
              </a:solidFill>
              <a:effectLst/>
              <a:uFillTx/>
              <a:latin typeface="Arial"/>
            </a:endParaRPr>
          </a:p>
        </p:txBody>
      </p:sp>
      <p:sp>
        <p:nvSpPr>
          <p:cNvPr id="31" name="Shape 4"/>
          <p:cNvSpPr/>
          <p:nvPr/>
        </p:nvSpPr>
        <p:spPr>
          <a:xfrm>
            <a:off x="365760" y="2606040"/>
            <a:ext cx="3839760" cy="2285280"/>
          </a:xfrm>
          <a:prstGeom prst="roundRect">
            <a:avLst>
              <a:gd name="adj" fmla="val 400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Text 5"/>
          <p:cNvSpPr/>
          <p:nvPr/>
        </p:nvSpPr>
        <p:spPr>
          <a:xfrm>
            <a:off x="530280" y="267012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Key Questions</a:t>
            </a:r>
            <a:endParaRPr lang="en-US" sz="1100" b="0" u="none" strike="noStrike">
              <a:solidFill>
                <a:srgbClr val="000000"/>
              </a:solidFill>
              <a:effectLst/>
              <a:uFillTx/>
              <a:latin typeface="Arial"/>
            </a:endParaRPr>
          </a:p>
        </p:txBody>
      </p:sp>
      <p:sp>
        <p:nvSpPr>
          <p:cNvPr id="33" name="Text 6"/>
          <p:cNvSpPr/>
          <p:nvPr/>
        </p:nvSpPr>
        <p:spPr>
          <a:xfrm>
            <a:off x="530280" y="2999160"/>
            <a:ext cx="3565440" cy="175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defTabSz="914400">
              <a:lnSpc>
                <a:spcPct val="100000"/>
              </a:lnSpc>
              <a:buClr>
                <a:srgbClr val="1E293B"/>
              </a:buClr>
              <a:buFont typeface="Symbol" charset="2"/>
              <a:buChar char=""/>
            </a:pPr>
            <a:r>
              <a:rPr lang="en-US" sz="1200" b="0" u="none" strike="noStrike">
                <a:solidFill>
                  <a:srgbClr val="1E293B"/>
                </a:solidFill>
                <a:effectLst/>
                <a:uFillTx/>
                <a:latin typeface="Calibri"/>
                <a:ea typeface="Calibri"/>
              </a:rPr>
              <a:t>Do richer countries reach later stages on average?</a:t>
            </a:r>
            <a:endParaRPr lang="en-US" sz="1200" b="0" u="none" strike="noStrike">
              <a:solidFill>
                <a:srgbClr val="000000"/>
              </a:solidFill>
              <a:effectLst/>
              <a:uFillTx/>
              <a:latin typeface="Arial"/>
            </a:endParaRPr>
          </a:p>
          <a:p>
            <a:pPr marL="343080" indent="-343080" defTabSz="914400">
              <a:lnSpc>
                <a:spcPct val="100000"/>
              </a:lnSpc>
              <a:buClr>
                <a:srgbClr val="1E293B"/>
              </a:buClr>
              <a:buFont typeface="Symbol" charset="2"/>
              <a:buChar char=""/>
            </a:pPr>
            <a:r>
              <a:rPr lang="en-US" sz="1200" b="0" u="none" strike="noStrike">
                <a:solidFill>
                  <a:srgbClr val="1E293B"/>
                </a:solidFill>
                <a:effectLst/>
                <a:uFillTx/>
                <a:latin typeface="Calibri"/>
                <a:ea typeface="Calibri"/>
              </a:rPr>
              <a:t>Do host nations have a measurable home advantage?</a:t>
            </a:r>
            <a:endParaRPr lang="en-US" sz="1200" b="0" u="none" strike="noStrike">
              <a:solidFill>
                <a:srgbClr val="000000"/>
              </a:solidFill>
              <a:effectLst/>
              <a:uFillTx/>
              <a:latin typeface="Arial"/>
            </a:endParaRPr>
          </a:p>
          <a:p>
            <a:pPr marL="343080" indent="-343080" defTabSz="914400">
              <a:lnSpc>
                <a:spcPct val="100000"/>
              </a:lnSpc>
              <a:buClr>
                <a:srgbClr val="1E293B"/>
              </a:buClr>
              <a:buFont typeface="Symbol" charset="2"/>
              <a:buChar char=""/>
            </a:pPr>
            <a:r>
              <a:rPr lang="en-US" sz="1200" b="0" u="none" strike="noStrike">
                <a:solidFill>
                  <a:srgbClr val="1E293B"/>
                </a:solidFill>
                <a:effectLst/>
                <a:uFillTx/>
                <a:latin typeface="Calibri"/>
                <a:ea typeface="Calibri"/>
              </a:rPr>
              <a:t>Does population size predict early elimination?</a:t>
            </a:r>
            <a:endParaRPr lang="en-US" sz="1200" b="0" u="none" strike="noStrike">
              <a:solidFill>
                <a:srgbClr val="000000"/>
              </a:solidFill>
              <a:effectLst/>
              <a:uFillTx/>
              <a:latin typeface="Arial"/>
            </a:endParaRPr>
          </a:p>
          <a:p>
            <a:pPr marL="343080" indent="-343080" defTabSz="914400">
              <a:lnSpc>
                <a:spcPct val="100000"/>
              </a:lnSpc>
              <a:buClr>
                <a:srgbClr val="1E293B"/>
              </a:buClr>
              <a:buFont typeface="Symbol" charset="2"/>
              <a:buChar char=""/>
            </a:pPr>
            <a:r>
              <a:rPr lang="en-US" sz="1200" b="0" u="none" strike="noStrike">
                <a:solidFill>
                  <a:srgbClr val="1E293B"/>
                </a:solidFill>
                <a:effectLst/>
                <a:uFillTx/>
                <a:latin typeface="Calibri"/>
                <a:ea typeface="Calibri"/>
              </a:rPr>
              <a:t>Which confederations dominate performance rankings?</a:t>
            </a:r>
            <a:endParaRPr lang="en-US" sz="1200" b="0" u="none" strike="noStrike">
              <a:solidFill>
                <a:srgbClr val="000000"/>
              </a:solidFill>
              <a:effectLst/>
              <a:uFillTx/>
              <a:latin typeface="Arial"/>
            </a:endParaRPr>
          </a:p>
        </p:txBody>
      </p:sp>
      <p:sp>
        <p:nvSpPr>
          <p:cNvPr id="34" name="Shape 7"/>
          <p:cNvSpPr/>
          <p:nvPr/>
        </p:nvSpPr>
        <p:spPr>
          <a:xfrm>
            <a:off x="4462200" y="749880"/>
            <a:ext cx="4406760" cy="1261080"/>
          </a:xfrm>
          <a:prstGeom prst="roundRect">
            <a:avLst>
              <a:gd name="adj" fmla="val 7246"/>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 name="Shape 8"/>
          <p:cNvSpPr/>
          <p:nvPr/>
        </p:nvSpPr>
        <p:spPr>
          <a:xfrm>
            <a:off x="4563000" y="859680"/>
            <a:ext cx="328320" cy="32832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 name="Text 9"/>
          <p:cNvSpPr/>
          <p:nvPr/>
        </p:nvSpPr>
        <p:spPr>
          <a:xfrm>
            <a:off x="4563000" y="859680"/>
            <a:ext cx="3283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ea typeface="Calibri"/>
              </a:rPr>
              <a:t>01</a:t>
            </a:r>
            <a:endParaRPr lang="en-US" sz="1000" b="0" u="none" strike="noStrike">
              <a:solidFill>
                <a:srgbClr val="000000"/>
              </a:solidFill>
              <a:effectLst/>
              <a:uFillTx/>
              <a:latin typeface="Arial"/>
            </a:endParaRPr>
          </a:p>
        </p:txBody>
      </p:sp>
      <p:sp>
        <p:nvSpPr>
          <p:cNvPr id="37" name="Text 10"/>
          <p:cNvSpPr/>
          <p:nvPr/>
        </p:nvSpPr>
        <p:spPr>
          <a:xfrm>
            <a:off x="4983480" y="841320"/>
            <a:ext cx="3748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1E293B"/>
                </a:solidFill>
                <a:effectLst/>
                <a:uFillTx/>
                <a:latin typeface="Calibri"/>
                <a:ea typeface="Calibri"/>
              </a:rPr>
              <a:t>WC Match Results</a:t>
            </a:r>
            <a:endParaRPr lang="en-US" sz="1300" b="0" u="none" strike="noStrike">
              <a:solidFill>
                <a:srgbClr val="000000"/>
              </a:solidFill>
              <a:effectLst/>
              <a:uFillTx/>
              <a:latin typeface="Arial"/>
            </a:endParaRPr>
          </a:p>
        </p:txBody>
      </p:sp>
      <p:sp>
        <p:nvSpPr>
          <p:cNvPr id="38" name="Text 11"/>
          <p:cNvSpPr/>
          <p:nvPr/>
        </p:nvSpPr>
        <p:spPr>
          <a:xfrm>
            <a:off x="4983480" y="1134000"/>
            <a:ext cx="374832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0D9488"/>
                </a:solidFill>
                <a:effectLst/>
                <a:uFillTx/>
                <a:latin typeface="Calibri"/>
                <a:ea typeface="Calibri"/>
              </a:rPr>
              <a:t>Kaggle · evangower/fifa-world-cup</a:t>
            </a:r>
            <a:endParaRPr lang="en-US" sz="1000" b="0" u="none" strike="noStrike">
              <a:solidFill>
                <a:srgbClr val="000000"/>
              </a:solidFill>
              <a:effectLst/>
              <a:uFillTx/>
              <a:latin typeface="Arial"/>
            </a:endParaRPr>
          </a:p>
        </p:txBody>
      </p:sp>
      <p:sp>
        <p:nvSpPr>
          <p:cNvPr id="39" name="Text 12"/>
          <p:cNvSpPr/>
          <p:nvPr/>
        </p:nvSpPr>
        <p:spPr>
          <a:xfrm>
            <a:off x="4983480" y="137160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64748B"/>
                </a:solidFill>
                <a:effectLst/>
                <a:uFillTx/>
                <a:latin typeface="Calibri"/>
                <a:ea typeface="Calibri"/>
              </a:rPr>
              <a:t>Grain: </a:t>
            </a:r>
            <a:r>
              <a:rPr lang="en-US" sz="1000" b="0" u="none" strike="noStrike">
                <a:solidFill>
                  <a:srgbClr val="64748B"/>
                </a:solidFill>
                <a:effectLst/>
                <a:uFillTx/>
                <a:latin typeface="Calibri"/>
                <a:ea typeface="Calibri"/>
              </a:rPr>
              <a:t>1 match per row | 1930–2022 → filtered 1998–2018 (~384 matches)</a:t>
            </a:r>
            <a:endParaRPr lang="en-US" sz="1000" b="0" u="none" strike="noStrike">
              <a:solidFill>
                <a:srgbClr val="000000"/>
              </a:solidFill>
              <a:effectLst/>
              <a:uFillTx/>
              <a:latin typeface="Arial"/>
            </a:endParaRPr>
          </a:p>
        </p:txBody>
      </p:sp>
      <p:sp>
        <p:nvSpPr>
          <p:cNvPr id="40" name="Text 13"/>
          <p:cNvSpPr/>
          <p:nvPr/>
        </p:nvSpPr>
        <p:spPr>
          <a:xfrm>
            <a:off x="4983480" y="161856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Join key: </a:t>
            </a:r>
            <a:r>
              <a:rPr lang="en-US" sz="1000" b="0" u="none" strike="noStrike">
                <a:solidFill>
                  <a:srgbClr val="64748B"/>
                </a:solidFill>
                <a:effectLst/>
                <a:uFillTx/>
                <a:latin typeface="Calibri"/>
                <a:ea typeface="Calibri"/>
              </a:rPr>
              <a:t>team name + year</a:t>
            </a:r>
            <a:endParaRPr lang="en-US" sz="1000" b="0" u="none" strike="noStrike">
              <a:solidFill>
                <a:srgbClr val="000000"/>
              </a:solidFill>
              <a:effectLst/>
              <a:uFillTx/>
              <a:latin typeface="Arial"/>
            </a:endParaRPr>
          </a:p>
        </p:txBody>
      </p:sp>
      <p:sp>
        <p:nvSpPr>
          <p:cNvPr id="41" name="Shape 14"/>
          <p:cNvSpPr/>
          <p:nvPr/>
        </p:nvSpPr>
        <p:spPr>
          <a:xfrm>
            <a:off x="4462200" y="2167200"/>
            <a:ext cx="4406760" cy="1261080"/>
          </a:xfrm>
          <a:prstGeom prst="roundRect">
            <a:avLst>
              <a:gd name="adj" fmla="val 7246"/>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 name="Shape 15"/>
          <p:cNvSpPr/>
          <p:nvPr/>
        </p:nvSpPr>
        <p:spPr>
          <a:xfrm>
            <a:off x="4563000" y="2277000"/>
            <a:ext cx="328320" cy="328320"/>
          </a:xfrm>
          <a:prstGeom prst="ellipse">
            <a:avLst/>
          </a:prstGeom>
          <a:solidFill>
            <a:srgbClr val="065A82"/>
          </a:solidFill>
          <a:ln w="12700">
            <a:solidFill>
              <a:srgbClr val="065A8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 name="Text 16"/>
          <p:cNvSpPr/>
          <p:nvPr/>
        </p:nvSpPr>
        <p:spPr>
          <a:xfrm>
            <a:off x="4563000" y="2277000"/>
            <a:ext cx="3283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ea typeface="Calibri"/>
              </a:rPr>
              <a:t>02</a:t>
            </a:r>
            <a:endParaRPr lang="en-US" sz="1000" b="0" u="none" strike="noStrike">
              <a:solidFill>
                <a:srgbClr val="000000"/>
              </a:solidFill>
              <a:effectLst/>
              <a:uFillTx/>
              <a:latin typeface="Arial"/>
            </a:endParaRPr>
          </a:p>
        </p:txBody>
      </p:sp>
      <p:sp>
        <p:nvSpPr>
          <p:cNvPr id="44" name="Text 17"/>
          <p:cNvSpPr/>
          <p:nvPr/>
        </p:nvSpPr>
        <p:spPr>
          <a:xfrm>
            <a:off x="4983480" y="2258640"/>
            <a:ext cx="3748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1E293B"/>
                </a:solidFill>
                <a:effectLst/>
                <a:uFillTx/>
                <a:latin typeface="Calibri"/>
                <a:ea typeface="Calibri"/>
              </a:rPr>
              <a:t>World Bank Population</a:t>
            </a:r>
            <a:endParaRPr lang="en-US" sz="1300" b="0" u="none" strike="noStrike">
              <a:solidFill>
                <a:srgbClr val="000000"/>
              </a:solidFill>
              <a:effectLst/>
              <a:uFillTx/>
              <a:latin typeface="Arial"/>
            </a:endParaRPr>
          </a:p>
        </p:txBody>
      </p:sp>
      <p:sp>
        <p:nvSpPr>
          <p:cNvPr id="45" name="Text 18"/>
          <p:cNvSpPr/>
          <p:nvPr/>
        </p:nvSpPr>
        <p:spPr>
          <a:xfrm>
            <a:off x="4983480" y="2551320"/>
            <a:ext cx="374832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065A82"/>
                </a:solidFill>
                <a:effectLst/>
                <a:uFillTx/>
                <a:latin typeface="Calibri"/>
                <a:ea typeface="Calibri"/>
              </a:rPr>
              <a:t>worldbank.org / SP.POP.TOTL</a:t>
            </a:r>
            <a:endParaRPr lang="en-US" sz="1000" b="0" u="none" strike="noStrike">
              <a:solidFill>
                <a:srgbClr val="000000"/>
              </a:solidFill>
              <a:effectLst/>
              <a:uFillTx/>
              <a:latin typeface="Arial"/>
            </a:endParaRPr>
          </a:p>
        </p:txBody>
      </p:sp>
      <p:sp>
        <p:nvSpPr>
          <p:cNvPr id="46" name="Text 19"/>
          <p:cNvSpPr/>
          <p:nvPr/>
        </p:nvSpPr>
        <p:spPr>
          <a:xfrm>
            <a:off x="4983480" y="278892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64748B"/>
                </a:solidFill>
                <a:effectLst/>
                <a:uFillTx/>
                <a:latin typeface="Calibri"/>
                <a:ea typeface="Calibri"/>
              </a:rPr>
              <a:t>Grain: </a:t>
            </a:r>
            <a:r>
              <a:rPr lang="en-US" sz="1000" b="0" u="none" strike="noStrike">
                <a:solidFill>
                  <a:srgbClr val="64748B"/>
                </a:solidFill>
                <a:effectLst/>
                <a:uFillTx/>
                <a:latin typeface="Calibri"/>
                <a:ea typeface="Calibri"/>
              </a:rPr>
              <a:t>1 country × 1 year (wide format → unpivoted in Silver)</a:t>
            </a:r>
            <a:endParaRPr lang="en-US" sz="1000" b="0" u="none" strike="noStrike">
              <a:solidFill>
                <a:srgbClr val="000000"/>
              </a:solidFill>
              <a:effectLst/>
              <a:uFillTx/>
              <a:latin typeface="Arial"/>
            </a:endParaRPr>
          </a:p>
        </p:txBody>
      </p:sp>
      <p:sp>
        <p:nvSpPr>
          <p:cNvPr id="47" name="Text 20"/>
          <p:cNvSpPr/>
          <p:nvPr/>
        </p:nvSpPr>
        <p:spPr>
          <a:xfrm>
            <a:off x="4983480" y="303588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Join key: </a:t>
            </a:r>
            <a:r>
              <a:rPr lang="en-US" sz="1000" b="0" u="none" strike="noStrike">
                <a:solidFill>
                  <a:srgbClr val="64748B"/>
                </a:solidFill>
                <a:effectLst/>
                <a:uFillTx/>
                <a:latin typeface="Calibri"/>
                <a:ea typeface="Calibri"/>
              </a:rPr>
              <a:t>country_name + year</a:t>
            </a:r>
            <a:endParaRPr lang="en-US" sz="1000" b="0" u="none" strike="noStrike">
              <a:solidFill>
                <a:srgbClr val="000000"/>
              </a:solidFill>
              <a:effectLst/>
              <a:uFillTx/>
              <a:latin typeface="Arial"/>
            </a:endParaRPr>
          </a:p>
        </p:txBody>
      </p:sp>
      <p:sp>
        <p:nvSpPr>
          <p:cNvPr id="48" name="Shape 21"/>
          <p:cNvSpPr/>
          <p:nvPr/>
        </p:nvSpPr>
        <p:spPr>
          <a:xfrm>
            <a:off x="4462200" y="3584520"/>
            <a:ext cx="4406760" cy="1261080"/>
          </a:xfrm>
          <a:prstGeom prst="roundRect">
            <a:avLst>
              <a:gd name="adj" fmla="val 7246"/>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 name="Shape 22"/>
          <p:cNvSpPr/>
          <p:nvPr/>
        </p:nvSpPr>
        <p:spPr>
          <a:xfrm>
            <a:off x="4563000" y="3694320"/>
            <a:ext cx="328320" cy="328320"/>
          </a:xfrm>
          <a:prstGeom prst="ellipse">
            <a:avLst/>
          </a:prstGeom>
          <a:solidFill>
            <a:srgbClr val="065A82"/>
          </a:solidFill>
          <a:ln w="12700">
            <a:solidFill>
              <a:srgbClr val="065A8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Text 23"/>
          <p:cNvSpPr/>
          <p:nvPr/>
        </p:nvSpPr>
        <p:spPr>
          <a:xfrm>
            <a:off x="4563000" y="3694320"/>
            <a:ext cx="32832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ea typeface="Calibri"/>
              </a:rPr>
              <a:t>03</a:t>
            </a:r>
            <a:endParaRPr lang="en-US" sz="1000" b="0" u="none" strike="noStrike">
              <a:solidFill>
                <a:srgbClr val="000000"/>
              </a:solidFill>
              <a:effectLst/>
              <a:uFillTx/>
              <a:latin typeface="Arial"/>
            </a:endParaRPr>
          </a:p>
        </p:txBody>
      </p:sp>
      <p:sp>
        <p:nvSpPr>
          <p:cNvPr id="51" name="Text 24"/>
          <p:cNvSpPr/>
          <p:nvPr/>
        </p:nvSpPr>
        <p:spPr>
          <a:xfrm>
            <a:off x="4983480" y="3675960"/>
            <a:ext cx="3748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1E293B"/>
                </a:solidFill>
                <a:effectLst/>
                <a:uFillTx/>
                <a:latin typeface="Calibri"/>
                <a:ea typeface="Calibri"/>
              </a:rPr>
              <a:t>World Bank GDP per Capita</a:t>
            </a:r>
            <a:endParaRPr lang="en-US" sz="1300" b="0" u="none" strike="noStrike">
              <a:solidFill>
                <a:srgbClr val="000000"/>
              </a:solidFill>
              <a:effectLst/>
              <a:uFillTx/>
              <a:latin typeface="Arial"/>
            </a:endParaRPr>
          </a:p>
        </p:txBody>
      </p:sp>
      <p:sp>
        <p:nvSpPr>
          <p:cNvPr id="52" name="Text 25"/>
          <p:cNvSpPr/>
          <p:nvPr/>
        </p:nvSpPr>
        <p:spPr>
          <a:xfrm>
            <a:off x="4983480" y="3968640"/>
            <a:ext cx="374832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065A82"/>
                </a:solidFill>
                <a:effectLst/>
                <a:uFillTx/>
                <a:latin typeface="Calibri"/>
                <a:ea typeface="Calibri"/>
              </a:rPr>
              <a:t>worldbank.org / NY.GDP.PCAP.CD</a:t>
            </a:r>
            <a:endParaRPr lang="en-US" sz="1000" b="0" u="none" strike="noStrike">
              <a:solidFill>
                <a:srgbClr val="000000"/>
              </a:solidFill>
              <a:effectLst/>
              <a:uFillTx/>
              <a:latin typeface="Arial"/>
            </a:endParaRPr>
          </a:p>
        </p:txBody>
      </p:sp>
      <p:sp>
        <p:nvSpPr>
          <p:cNvPr id="53" name="Text 26"/>
          <p:cNvSpPr/>
          <p:nvPr/>
        </p:nvSpPr>
        <p:spPr>
          <a:xfrm>
            <a:off x="4983480" y="420624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64748B"/>
                </a:solidFill>
                <a:effectLst/>
                <a:uFillTx/>
                <a:latin typeface="Calibri"/>
                <a:ea typeface="Calibri"/>
              </a:rPr>
              <a:t>Grain: </a:t>
            </a:r>
            <a:r>
              <a:rPr lang="en-US" sz="1000" b="0" u="none" strike="noStrike">
                <a:solidFill>
                  <a:srgbClr val="64748B"/>
                </a:solidFill>
                <a:effectLst/>
                <a:uFillTx/>
                <a:latin typeface="Calibri"/>
                <a:ea typeface="Calibri"/>
              </a:rPr>
              <a:t>1 country × 1 year | Current USD | Joined with pop data</a:t>
            </a:r>
            <a:endParaRPr lang="en-US" sz="1000" b="0" u="none" strike="noStrike">
              <a:solidFill>
                <a:srgbClr val="000000"/>
              </a:solidFill>
              <a:effectLst/>
              <a:uFillTx/>
              <a:latin typeface="Arial"/>
            </a:endParaRPr>
          </a:p>
        </p:txBody>
      </p:sp>
      <p:sp>
        <p:nvSpPr>
          <p:cNvPr id="54" name="Text 27"/>
          <p:cNvSpPr/>
          <p:nvPr/>
        </p:nvSpPr>
        <p:spPr>
          <a:xfrm>
            <a:off x="4983480" y="4453200"/>
            <a:ext cx="3748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Join key: </a:t>
            </a:r>
            <a:r>
              <a:rPr lang="en-US" sz="1000" b="0" u="none" strike="noStrike">
                <a:solidFill>
                  <a:srgbClr val="64748B"/>
                </a:solidFill>
                <a:effectLst/>
                <a:uFillTx/>
                <a:latin typeface="Calibri"/>
                <a:ea typeface="Calibri"/>
              </a:rPr>
              <a:t>country_name + year</a:t>
            </a:r>
            <a:endParaRPr lang="en-US" sz="1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55" name="Text 0"/>
          <p:cNvSpPr/>
          <p:nvPr/>
        </p:nvSpPr>
        <p:spPr>
          <a:xfrm>
            <a:off x="384120" y="91440"/>
            <a:ext cx="8320320" cy="419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dirty="0">
                <a:solidFill>
                  <a:srgbClr val="1C2D4E"/>
                </a:solidFill>
                <a:effectLst/>
                <a:uFillTx/>
                <a:latin typeface="Calibri"/>
                <a:ea typeface="Calibri"/>
              </a:rPr>
              <a:t>Sprint 4 — Scrum Board</a:t>
            </a:r>
            <a:endParaRPr lang="en-US" sz="2600" b="0" u="none" strike="noStrike" dirty="0">
              <a:solidFill>
                <a:srgbClr val="000000"/>
              </a:solidFill>
              <a:effectLst/>
              <a:uFillTx/>
              <a:latin typeface="Arial"/>
            </a:endParaRPr>
          </a:p>
        </p:txBody>
      </p:sp>
      <p:sp>
        <p:nvSpPr>
          <p:cNvPr id="56" name="Text 1"/>
          <p:cNvSpPr/>
          <p:nvPr/>
        </p:nvSpPr>
        <p:spPr>
          <a:xfrm>
            <a:off x="384120" y="484560"/>
            <a:ext cx="832032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i="1" u="none" strike="noStrike" dirty="0">
                <a:solidFill>
                  <a:srgbClr val="64748B"/>
                </a:solidFill>
                <a:effectLst/>
                <a:uFillTx/>
                <a:latin typeface="Calibri"/>
                <a:ea typeface="Calibri"/>
              </a:rPr>
              <a:t>Group2Fifa2  |  Parts 6, 7 &amp; 8  |  Source: Jira</a:t>
            </a:r>
            <a:endParaRPr lang="en-US" sz="1100" b="0" u="none" strike="noStrike" dirty="0">
              <a:solidFill>
                <a:srgbClr val="000000"/>
              </a:solidFill>
              <a:effectLst/>
              <a:uFillTx/>
              <a:latin typeface="Arial"/>
            </a:endParaRPr>
          </a:p>
        </p:txBody>
      </p:sp>
      <p:pic>
        <p:nvPicPr>
          <p:cNvPr id="2" name="Picture 1">
            <a:extLst>
              <a:ext uri="{FF2B5EF4-FFF2-40B4-BE49-F238E27FC236}">
                <a16:creationId xmlns:a16="http://schemas.microsoft.com/office/drawing/2014/main" id="{54052675-1673-F6B9-9B2D-3AA8785A5526}"/>
              </a:ext>
              <a:ext uri="{C183D7F6-B498-43B3-948B-1728B52AA6E4}">
                <adec:decorative xmlns:adec="http://schemas.microsoft.com/office/drawing/2017/decorative" val="1"/>
              </a:ext>
            </a:extLst>
          </p:cNvPr>
          <p:cNvPicPr>
            <a:picLocks noChangeAspect="1"/>
          </p:cNvPicPr>
          <p:nvPr/>
        </p:nvPicPr>
        <p:blipFill>
          <a:blip r:embed="rId3"/>
          <a:srcRect b="22954"/>
          <a:stretch>
            <a:fillRect/>
          </a:stretch>
        </p:blipFill>
        <p:spPr>
          <a:xfrm>
            <a:off x="384120" y="685080"/>
            <a:ext cx="5320394" cy="4378630"/>
          </a:xfrm>
          <a:prstGeom prst="rect">
            <a:avLst/>
          </a:prstGeom>
        </p:spPr>
      </p:pic>
      <p:sp>
        <p:nvSpPr>
          <p:cNvPr id="3" name="TextBox 2">
            <a:extLst>
              <a:ext uri="{FF2B5EF4-FFF2-40B4-BE49-F238E27FC236}">
                <a16:creationId xmlns:a16="http://schemas.microsoft.com/office/drawing/2014/main" id="{E3C76B95-C869-BB8D-0FFD-3671B043A41F}"/>
              </a:ext>
            </a:extLst>
          </p:cNvPr>
          <p:cNvSpPr txBox="1"/>
          <p:nvPr/>
        </p:nvSpPr>
        <p:spPr>
          <a:xfrm>
            <a:off x="6054957" y="1140589"/>
            <a:ext cx="2704923"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Work split into Jira epics (Parts 6, 7 &amp; 8), each broken down into tasks and subtasks per pipeline stage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2 working pairs tackling different Parts simultaneously, enabling parallel progress across the sprint backlog</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Daily stand-ups to sync progress, surface blockers, and reassign tasks dynamically</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Clear ownership per epic to avoid overlap and maximize throughput across the sprint</a:t>
            </a:r>
            <a:endParaRPr lang="en-CH"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59" name="Text 0"/>
          <p:cNvSpPr/>
          <p:nvPr/>
        </p:nvSpPr>
        <p:spPr>
          <a:xfrm>
            <a:off x="402480" y="91440"/>
            <a:ext cx="832032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Medallion Architecture</a:t>
            </a:r>
            <a:endParaRPr lang="en-US" sz="2600" b="0" u="none" strike="noStrike">
              <a:solidFill>
                <a:srgbClr val="000000"/>
              </a:solidFill>
              <a:effectLst/>
              <a:uFillTx/>
              <a:latin typeface="Arial"/>
            </a:endParaRPr>
          </a:p>
        </p:txBody>
      </p:sp>
      <p:sp>
        <p:nvSpPr>
          <p:cNvPr id="60" name="Text 1"/>
          <p:cNvSpPr/>
          <p:nvPr/>
        </p:nvSpPr>
        <p:spPr>
          <a:xfrm>
            <a:off x="402480" y="475560"/>
            <a:ext cx="832032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i="1" u="none" strike="noStrike">
                <a:solidFill>
                  <a:srgbClr val="64748B"/>
                </a:solidFill>
                <a:effectLst/>
                <a:uFillTx/>
                <a:latin typeface="Calibri"/>
                <a:ea typeface="Calibri"/>
              </a:rPr>
              <a:t>3 sources  ·  3 layers  ·  1 integrated star schema  →  768 fact rows in Azure SQL</a:t>
            </a:r>
            <a:endParaRPr lang="en-US" sz="1100" b="0" u="none" strike="noStrike">
              <a:solidFill>
                <a:srgbClr val="000000"/>
              </a:solidFill>
              <a:effectLst/>
              <a:uFillTx/>
              <a:latin typeface="Arial"/>
            </a:endParaRPr>
          </a:p>
        </p:txBody>
      </p:sp>
      <p:sp>
        <p:nvSpPr>
          <p:cNvPr id="61" name="Shape 2"/>
          <p:cNvSpPr/>
          <p:nvPr/>
        </p:nvSpPr>
        <p:spPr>
          <a:xfrm>
            <a:off x="411480" y="749880"/>
            <a:ext cx="1462320" cy="3528720"/>
          </a:xfrm>
          <a:prstGeom prst="roundRect">
            <a:avLst>
              <a:gd name="adj" fmla="val 625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 name="Shape 3"/>
          <p:cNvSpPr/>
          <p:nvPr/>
        </p:nvSpPr>
        <p:spPr>
          <a:xfrm>
            <a:off x="411480" y="749880"/>
            <a:ext cx="1462320" cy="712440"/>
          </a:xfrm>
          <a:prstGeom prst="roundRect">
            <a:avLst>
              <a:gd name="adj" fmla="val 12821"/>
            </a:avLst>
          </a:prstGeom>
          <a:solidFill>
            <a:srgbClr val="475569"/>
          </a:solidFill>
          <a:ln w="12700">
            <a:solidFill>
              <a:srgbClr val="47556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Shape 4"/>
          <p:cNvSpPr/>
          <p:nvPr/>
        </p:nvSpPr>
        <p:spPr>
          <a:xfrm>
            <a:off x="411480" y="1106280"/>
            <a:ext cx="1462320" cy="356040"/>
          </a:xfrm>
          <a:prstGeom prst="rect">
            <a:avLst/>
          </a:prstGeom>
          <a:solidFill>
            <a:srgbClr val="475569"/>
          </a:solidFill>
          <a:ln w="12700">
            <a:solidFill>
              <a:srgbClr val="47556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 name="Text 5"/>
          <p:cNvSpPr/>
          <p:nvPr/>
        </p:nvSpPr>
        <p:spPr>
          <a:xfrm>
            <a:off x="411480" y="813960"/>
            <a:ext cx="1462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RAW SOURCES</a:t>
            </a:r>
            <a:endParaRPr lang="en-US" sz="1100" b="0" u="none" strike="noStrike">
              <a:solidFill>
                <a:srgbClr val="000000"/>
              </a:solidFill>
              <a:effectLst/>
              <a:uFillTx/>
              <a:latin typeface="Arial"/>
            </a:endParaRPr>
          </a:p>
        </p:txBody>
      </p:sp>
      <p:sp>
        <p:nvSpPr>
          <p:cNvPr id="65" name="Text 6"/>
          <p:cNvSpPr/>
          <p:nvPr/>
        </p:nvSpPr>
        <p:spPr>
          <a:xfrm>
            <a:off x="411480" y="1115640"/>
            <a:ext cx="146232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i="1" u="none" strike="noStrike">
                <a:solidFill>
                  <a:srgbClr val="DBEAFE"/>
                </a:solidFill>
                <a:effectLst/>
                <a:uFillTx/>
                <a:latin typeface="Calibri"/>
                <a:ea typeface="Calibri"/>
              </a:rPr>
              <a:t>3 CSV files</a:t>
            </a:r>
            <a:endParaRPr lang="en-US" sz="850" b="0" u="none" strike="noStrike">
              <a:solidFill>
                <a:srgbClr val="000000"/>
              </a:solidFill>
              <a:effectLst/>
              <a:uFillTx/>
              <a:latin typeface="Arial"/>
            </a:endParaRPr>
          </a:p>
        </p:txBody>
      </p:sp>
      <p:sp>
        <p:nvSpPr>
          <p:cNvPr id="66" name="Shape 7"/>
          <p:cNvSpPr/>
          <p:nvPr/>
        </p:nvSpPr>
        <p:spPr>
          <a:xfrm>
            <a:off x="521280" y="1481400"/>
            <a:ext cx="1242720" cy="1584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28440" rIns="90000" bIns="-28440" anchor="t">
            <a:noAutofit/>
          </a:bodyPr>
          <a:lstStyle/>
          <a:p>
            <a:endParaRPr lang="en-US" sz="1800" b="0" u="none" strike="noStrike">
              <a:solidFill>
                <a:srgbClr val="000000"/>
              </a:solidFill>
              <a:effectLst/>
              <a:uFillTx/>
              <a:latin typeface="Arial"/>
            </a:endParaRPr>
          </a:p>
        </p:txBody>
      </p:sp>
      <p:sp>
        <p:nvSpPr>
          <p:cNvPr id="67" name="Text 8"/>
          <p:cNvSpPr/>
          <p:nvPr/>
        </p:nvSpPr>
        <p:spPr>
          <a:xfrm>
            <a:off x="530280" y="15544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Kaggle CSV</a:t>
            </a:r>
            <a:endParaRPr lang="en-US" sz="850" b="0" u="none" strike="noStrike">
              <a:solidFill>
                <a:srgbClr val="000000"/>
              </a:solidFill>
              <a:effectLst/>
              <a:uFillTx/>
              <a:latin typeface="Arial"/>
            </a:endParaRPr>
          </a:p>
        </p:txBody>
      </p:sp>
      <p:sp>
        <p:nvSpPr>
          <p:cNvPr id="68" name="Text 9"/>
          <p:cNvSpPr/>
          <p:nvPr/>
        </p:nvSpPr>
        <p:spPr>
          <a:xfrm>
            <a:off x="530280" y="181512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WC results 1930–2022</a:t>
            </a:r>
            <a:endParaRPr lang="en-US" sz="800" b="0" u="none" strike="noStrike">
              <a:solidFill>
                <a:srgbClr val="000000"/>
              </a:solidFill>
              <a:effectLst/>
              <a:uFillTx/>
              <a:latin typeface="Arial"/>
            </a:endParaRPr>
          </a:p>
        </p:txBody>
      </p:sp>
      <p:sp>
        <p:nvSpPr>
          <p:cNvPr id="69" name="Text 10"/>
          <p:cNvSpPr/>
          <p:nvPr/>
        </p:nvSpPr>
        <p:spPr>
          <a:xfrm>
            <a:off x="530280" y="20757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~900 match rows</a:t>
            </a:r>
            <a:endParaRPr lang="en-US" sz="800" b="0" u="none" strike="noStrike">
              <a:solidFill>
                <a:srgbClr val="000000"/>
              </a:solidFill>
              <a:effectLst/>
              <a:uFillTx/>
              <a:latin typeface="Arial"/>
            </a:endParaRPr>
          </a:p>
        </p:txBody>
      </p:sp>
      <p:sp>
        <p:nvSpPr>
          <p:cNvPr id="70" name="Text 11"/>
          <p:cNvSpPr/>
          <p:nvPr/>
        </p:nvSpPr>
        <p:spPr>
          <a:xfrm>
            <a:off x="530280" y="233640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World Bank CSVs</a:t>
            </a:r>
            <a:endParaRPr lang="en-US" sz="850" b="0" u="none" strike="noStrike">
              <a:solidFill>
                <a:srgbClr val="000000"/>
              </a:solidFill>
              <a:effectLst/>
              <a:uFillTx/>
              <a:latin typeface="Arial"/>
            </a:endParaRPr>
          </a:p>
        </p:txBody>
      </p:sp>
      <p:sp>
        <p:nvSpPr>
          <p:cNvPr id="71" name="Text 12"/>
          <p:cNvSpPr/>
          <p:nvPr/>
        </p:nvSpPr>
        <p:spPr>
          <a:xfrm>
            <a:off x="530280" y="259704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Population (wide fmt)</a:t>
            </a:r>
            <a:endParaRPr lang="en-US" sz="800" b="0" u="none" strike="noStrike">
              <a:solidFill>
                <a:srgbClr val="000000"/>
              </a:solidFill>
              <a:effectLst/>
              <a:uFillTx/>
              <a:latin typeface="Arial"/>
            </a:endParaRPr>
          </a:p>
        </p:txBody>
      </p:sp>
      <p:sp>
        <p:nvSpPr>
          <p:cNvPr id="72" name="Text 13"/>
          <p:cNvSpPr/>
          <p:nvPr/>
        </p:nvSpPr>
        <p:spPr>
          <a:xfrm>
            <a:off x="530280" y="28576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GDP per capita (wide)</a:t>
            </a:r>
            <a:endParaRPr lang="en-US" sz="800" b="0" u="none" strike="noStrike">
              <a:solidFill>
                <a:srgbClr val="000000"/>
              </a:solidFill>
              <a:effectLst/>
              <a:uFillTx/>
              <a:latin typeface="Arial"/>
            </a:endParaRPr>
          </a:p>
        </p:txBody>
      </p:sp>
      <p:sp>
        <p:nvSpPr>
          <p:cNvPr id="73" name="Text 14"/>
          <p:cNvSpPr/>
          <p:nvPr/>
        </p:nvSpPr>
        <p:spPr>
          <a:xfrm>
            <a:off x="530280" y="31179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270+ countries each</a:t>
            </a:r>
            <a:endParaRPr lang="en-US" sz="800" b="0" u="none" strike="noStrike">
              <a:solidFill>
                <a:srgbClr val="000000"/>
              </a:solidFill>
              <a:effectLst/>
              <a:uFillTx/>
              <a:latin typeface="Arial"/>
            </a:endParaRPr>
          </a:p>
        </p:txBody>
      </p:sp>
      <p:sp>
        <p:nvSpPr>
          <p:cNvPr id="74" name="Shape 15"/>
          <p:cNvSpPr/>
          <p:nvPr/>
        </p:nvSpPr>
        <p:spPr>
          <a:xfrm>
            <a:off x="502920" y="3675960"/>
            <a:ext cx="1279440" cy="520560"/>
          </a:xfrm>
          <a:prstGeom prst="roundRect">
            <a:avLst>
              <a:gd name="adj" fmla="val 12281"/>
            </a:avLst>
          </a:prstGeom>
          <a:solidFill>
            <a:srgbClr val="475569">
              <a:alpha val="12000"/>
            </a:srgbClr>
          </a:solidFill>
          <a:ln w="12700">
            <a:solidFill>
              <a:srgbClr val="475569">
                <a:alpha val="5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 name="Text 16"/>
          <p:cNvSpPr/>
          <p:nvPr/>
        </p:nvSpPr>
        <p:spPr>
          <a:xfrm>
            <a:off x="502920" y="3703320"/>
            <a:ext cx="127944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1" u="none" strike="noStrike">
                <a:solidFill>
                  <a:srgbClr val="475569"/>
                </a:solidFill>
                <a:effectLst/>
                <a:uFillTx/>
                <a:latin typeface="Calibri"/>
                <a:ea typeface="Calibri"/>
              </a:rPr>
              <a:t>data/raw/</a:t>
            </a:r>
            <a:endParaRPr lang="en-US" sz="900" b="0" u="none" strike="noStrike">
              <a:solidFill>
                <a:srgbClr val="000000"/>
              </a:solidFill>
              <a:effectLst/>
              <a:uFillTx/>
              <a:latin typeface="Arial"/>
            </a:endParaRPr>
          </a:p>
        </p:txBody>
      </p:sp>
      <p:sp>
        <p:nvSpPr>
          <p:cNvPr id="76" name="Text 17"/>
          <p:cNvSpPr/>
          <p:nvPr/>
        </p:nvSpPr>
        <p:spPr>
          <a:xfrm>
            <a:off x="502920" y="3922920"/>
            <a:ext cx="1279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i="1" u="none" strike="noStrike">
                <a:solidFill>
                  <a:srgbClr val="475569"/>
                </a:solidFill>
                <a:effectLst/>
                <a:uFillTx/>
                <a:latin typeface="Calibri"/>
                <a:ea typeface="Calibri"/>
              </a:rPr>
              <a:t>no transform</a:t>
            </a:r>
            <a:endParaRPr lang="en-US" sz="750" b="0" u="none" strike="noStrike">
              <a:solidFill>
                <a:srgbClr val="000000"/>
              </a:solidFill>
              <a:effectLst/>
              <a:uFillTx/>
              <a:latin typeface="Arial"/>
            </a:endParaRPr>
          </a:p>
        </p:txBody>
      </p:sp>
      <p:sp>
        <p:nvSpPr>
          <p:cNvPr id="77" name="Shape 18"/>
          <p:cNvSpPr/>
          <p:nvPr/>
        </p:nvSpPr>
        <p:spPr>
          <a:xfrm>
            <a:off x="1910880" y="2514600"/>
            <a:ext cx="182880" cy="360"/>
          </a:xfrm>
          <a:prstGeom prst="line">
            <a:avLst/>
          </a:prstGeom>
          <a:ln w="25400">
            <a:solidFill>
              <a:srgbClr val="64748B"/>
            </a:solidFill>
            <a:round/>
            <a:tailEnd type="arrow"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 name="Shape 19"/>
          <p:cNvSpPr/>
          <p:nvPr/>
        </p:nvSpPr>
        <p:spPr>
          <a:xfrm>
            <a:off x="2130480" y="749880"/>
            <a:ext cx="1462320" cy="3528720"/>
          </a:xfrm>
          <a:prstGeom prst="roundRect">
            <a:avLst>
              <a:gd name="adj" fmla="val 625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Shape 20"/>
          <p:cNvSpPr/>
          <p:nvPr/>
        </p:nvSpPr>
        <p:spPr>
          <a:xfrm>
            <a:off x="2130480" y="749880"/>
            <a:ext cx="1462320" cy="712440"/>
          </a:xfrm>
          <a:prstGeom prst="roundRect">
            <a:avLst>
              <a:gd name="adj" fmla="val 12821"/>
            </a:avLst>
          </a:prstGeom>
          <a:solidFill>
            <a:srgbClr val="92400E"/>
          </a:solidFill>
          <a:ln w="12700">
            <a:solidFill>
              <a:srgbClr val="92400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Shape 21"/>
          <p:cNvSpPr/>
          <p:nvPr/>
        </p:nvSpPr>
        <p:spPr>
          <a:xfrm>
            <a:off x="2130480" y="1106280"/>
            <a:ext cx="1462320" cy="356040"/>
          </a:xfrm>
          <a:prstGeom prst="rect">
            <a:avLst/>
          </a:prstGeom>
          <a:solidFill>
            <a:srgbClr val="92400E"/>
          </a:solidFill>
          <a:ln w="12700">
            <a:solidFill>
              <a:srgbClr val="92400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 name="Text 22"/>
          <p:cNvSpPr/>
          <p:nvPr/>
        </p:nvSpPr>
        <p:spPr>
          <a:xfrm>
            <a:off x="2130480" y="813960"/>
            <a:ext cx="1462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BRONZE</a:t>
            </a:r>
            <a:endParaRPr lang="en-US" sz="1100" b="0" u="none" strike="noStrike">
              <a:solidFill>
                <a:srgbClr val="000000"/>
              </a:solidFill>
              <a:effectLst/>
              <a:uFillTx/>
              <a:latin typeface="Arial"/>
            </a:endParaRPr>
          </a:p>
        </p:txBody>
      </p:sp>
      <p:sp>
        <p:nvSpPr>
          <p:cNvPr id="82" name="Text 23"/>
          <p:cNvSpPr/>
          <p:nvPr/>
        </p:nvSpPr>
        <p:spPr>
          <a:xfrm>
            <a:off x="2130480" y="1115640"/>
            <a:ext cx="146232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i="1" u="none" strike="noStrike">
                <a:solidFill>
                  <a:srgbClr val="DBEAFE"/>
                </a:solidFill>
                <a:effectLst/>
                <a:uFillTx/>
                <a:latin typeface="Calibri"/>
                <a:ea typeface="Calibri"/>
              </a:rPr>
              <a:t>bronze_*.ipynb × 3</a:t>
            </a:r>
            <a:endParaRPr lang="en-US" sz="850" b="0" u="none" strike="noStrike">
              <a:solidFill>
                <a:srgbClr val="000000"/>
              </a:solidFill>
              <a:effectLst/>
              <a:uFillTx/>
              <a:latin typeface="Arial"/>
            </a:endParaRPr>
          </a:p>
        </p:txBody>
      </p:sp>
      <p:sp>
        <p:nvSpPr>
          <p:cNvPr id="83" name="Shape 24"/>
          <p:cNvSpPr/>
          <p:nvPr/>
        </p:nvSpPr>
        <p:spPr>
          <a:xfrm>
            <a:off x="2240280" y="1481400"/>
            <a:ext cx="1242720" cy="1584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28440" rIns="90000" bIns="-28440" anchor="t">
            <a:noAutofit/>
          </a:bodyPr>
          <a:lstStyle/>
          <a:p>
            <a:endParaRPr lang="en-US" sz="1800" b="0" u="none" strike="noStrike">
              <a:solidFill>
                <a:srgbClr val="000000"/>
              </a:solidFill>
              <a:effectLst/>
              <a:uFillTx/>
              <a:latin typeface="Arial"/>
            </a:endParaRPr>
          </a:p>
        </p:txBody>
      </p:sp>
      <p:sp>
        <p:nvSpPr>
          <p:cNvPr id="84" name="Text 25"/>
          <p:cNvSpPr/>
          <p:nvPr/>
        </p:nvSpPr>
        <p:spPr>
          <a:xfrm>
            <a:off x="2249280" y="15544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Load CSV as-is</a:t>
            </a:r>
            <a:endParaRPr lang="en-US" sz="850" b="0" u="none" strike="noStrike">
              <a:solidFill>
                <a:srgbClr val="000000"/>
              </a:solidFill>
              <a:effectLst/>
              <a:uFillTx/>
              <a:latin typeface="Arial"/>
            </a:endParaRPr>
          </a:p>
        </p:txBody>
      </p:sp>
      <p:sp>
        <p:nvSpPr>
          <p:cNvPr id="85" name="Text 26"/>
          <p:cNvSpPr/>
          <p:nvPr/>
        </p:nvSpPr>
        <p:spPr>
          <a:xfrm>
            <a:off x="2249280" y="181512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skiprows=4 for World Bank</a:t>
            </a:r>
            <a:endParaRPr lang="en-US" sz="800" b="0" u="none" strike="noStrike">
              <a:solidFill>
                <a:srgbClr val="000000"/>
              </a:solidFill>
              <a:effectLst/>
              <a:uFillTx/>
              <a:latin typeface="Arial"/>
            </a:endParaRPr>
          </a:p>
        </p:txBody>
      </p:sp>
      <p:sp>
        <p:nvSpPr>
          <p:cNvPr id="86" name="Text 27"/>
          <p:cNvSpPr/>
          <p:nvPr/>
        </p:nvSpPr>
        <p:spPr>
          <a:xfrm>
            <a:off x="2249280" y="20757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Add provenance:</a:t>
            </a:r>
            <a:endParaRPr lang="en-US" sz="850" b="0" u="none" strike="noStrike">
              <a:solidFill>
                <a:srgbClr val="000000"/>
              </a:solidFill>
              <a:effectLst/>
              <a:uFillTx/>
              <a:latin typeface="Arial"/>
            </a:endParaRPr>
          </a:p>
        </p:txBody>
      </p:sp>
      <p:sp>
        <p:nvSpPr>
          <p:cNvPr id="87" name="Text 28"/>
          <p:cNvSpPr/>
          <p:nvPr/>
        </p:nvSpPr>
        <p:spPr>
          <a:xfrm>
            <a:off x="2249280" y="233640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 source_name</a:t>
            </a:r>
            <a:endParaRPr lang="en-US" sz="800" b="0" u="none" strike="noStrike">
              <a:solidFill>
                <a:srgbClr val="000000"/>
              </a:solidFill>
              <a:effectLst/>
              <a:uFillTx/>
              <a:latin typeface="Arial"/>
            </a:endParaRPr>
          </a:p>
        </p:txBody>
      </p:sp>
      <p:sp>
        <p:nvSpPr>
          <p:cNvPr id="88" name="Text 29"/>
          <p:cNvSpPr/>
          <p:nvPr/>
        </p:nvSpPr>
        <p:spPr>
          <a:xfrm>
            <a:off x="2249280" y="259704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 load_timestamp</a:t>
            </a:r>
            <a:endParaRPr lang="en-US" sz="800" b="0" u="none" strike="noStrike">
              <a:solidFill>
                <a:srgbClr val="000000"/>
              </a:solidFill>
              <a:effectLst/>
              <a:uFillTx/>
              <a:latin typeface="Arial"/>
            </a:endParaRPr>
          </a:p>
        </p:txBody>
      </p:sp>
      <p:sp>
        <p:nvSpPr>
          <p:cNvPr id="89" name="Text 30"/>
          <p:cNvSpPr/>
          <p:nvPr/>
        </p:nvSpPr>
        <p:spPr>
          <a:xfrm>
            <a:off x="2249280" y="28576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 run_id (UUID)</a:t>
            </a:r>
            <a:endParaRPr lang="en-US" sz="800" b="0" u="none" strike="noStrike">
              <a:solidFill>
                <a:srgbClr val="000000"/>
              </a:solidFill>
              <a:effectLst/>
              <a:uFillTx/>
              <a:latin typeface="Arial"/>
            </a:endParaRPr>
          </a:p>
        </p:txBody>
      </p:sp>
      <p:sp>
        <p:nvSpPr>
          <p:cNvPr id="90" name="Text 31"/>
          <p:cNvSpPr/>
          <p:nvPr/>
        </p:nvSpPr>
        <p:spPr>
          <a:xfrm>
            <a:off x="2249280" y="31179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dirty="0">
                <a:solidFill>
                  <a:srgbClr val="64748B"/>
                </a:solidFill>
                <a:effectLst/>
                <a:uFillTx/>
                <a:latin typeface="Calibri"/>
                <a:ea typeface="Calibri"/>
              </a:rPr>
              <a:t>No transform, no filter</a:t>
            </a:r>
            <a:endParaRPr lang="en-US" sz="800" b="0" u="none" strike="noStrike" dirty="0">
              <a:solidFill>
                <a:srgbClr val="000000"/>
              </a:solidFill>
              <a:effectLst/>
              <a:uFillTx/>
              <a:latin typeface="Arial"/>
            </a:endParaRPr>
          </a:p>
        </p:txBody>
      </p:sp>
      <p:sp>
        <p:nvSpPr>
          <p:cNvPr id="91" name="Shape 32"/>
          <p:cNvSpPr/>
          <p:nvPr/>
        </p:nvSpPr>
        <p:spPr>
          <a:xfrm>
            <a:off x="2221920" y="3675960"/>
            <a:ext cx="1279440" cy="520560"/>
          </a:xfrm>
          <a:prstGeom prst="roundRect">
            <a:avLst>
              <a:gd name="adj" fmla="val 12281"/>
            </a:avLst>
          </a:prstGeom>
          <a:solidFill>
            <a:srgbClr val="92400E">
              <a:alpha val="12000"/>
            </a:srgbClr>
          </a:solidFill>
          <a:ln w="12700">
            <a:solidFill>
              <a:srgbClr val="92400E">
                <a:alpha val="5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 name="Text 33"/>
          <p:cNvSpPr/>
          <p:nvPr/>
        </p:nvSpPr>
        <p:spPr>
          <a:xfrm>
            <a:off x="2221920" y="3703320"/>
            <a:ext cx="127944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1" u="none" strike="noStrike">
                <a:solidFill>
                  <a:srgbClr val="92400E"/>
                </a:solidFill>
                <a:effectLst/>
                <a:uFillTx/>
                <a:latin typeface="Calibri"/>
                <a:ea typeface="Calibri"/>
              </a:rPr>
              <a:t>data/bronze/</a:t>
            </a:r>
            <a:endParaRPr lang="en-US" sz="900" b="0" u="none" strike="noStrike">
              <a:solidFill>
                <a:srgbClr val="000000"/>
              </a:solidFill>
              <a:effectLst/>
              <a:uFillTx/>
              <a:latin typeface="Arial"/>
            </a:endParaRPr>
          </a:p>
        </p:txBody>
      </p:sp>
      <p:sp>
        <p:nvSpPr>
          <p:cNvPr id="93" name="Text 34"/>
          <p:cNvSpPr/>
          <p:nvPr/>
        </p:nvSpPr>
        <p:spPr>
          <a:xfrm>
            <a:off x="2221920" y="3922920"/>
            <a:ext cx="1279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i="1" u="none" strike="noStrike">
                <a:solidFill>
                  <a:srgbClr val="92400E"/>
                </a:solidFill>
                <a:effectLst/>
                <a:uFillTx/>
                <a:latin typeface="Calibri"/>
                <a:ea typeface="Calibri"/>
              </a:rPr>
              <a:t>raw + provenance metadata</a:t>
            </a:r>
            <a:endParaRPr lang="en-US" sz="750" b="0" u="none" strike="noStrike">
              <a:solidFill>
                <a:srgbClr val="000000"/>
              </a:solidFill>
              <a:effectLst/>
              <a:uFillTx/>
              <a:latin typeface="Arial"/>
            </a:endParaRPr>
          </a:p>
        </p:txBody>
      </p:sp>
      <p:sp>
        <p:nvSpPr>
          <p:cNvPr id="94" name="Shape 35"/>
          <p:cNvSpPr/>
          <p:nvPr/>
        </p:nvSpPr>
        <p:spPr>
          <a:xfrm>
            <a:off x="3629880" y="2514600"/>
            <a:ext cx="182880" cy="360"/>
          </a:xfrm>
          <a:prstGeom prst="line">
            <a:avLst/>
          </a:prstGeom>
          <a:ln w="25400">
            <a:solidFill>
              <a:srgbClr val="64748B"/>
            </a:solidFill>
            <a:round/>
            <a:tailEnd type="arrow"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5" name="Shape 36"/>
          <p:cNvSpPr/>
          <p:nvPr/>
        </p:nvSpPr>
        <p:spPr>
          <a:xfrm>
            <a:off x="3849480" y="749880"/>
            <a:ext cx="1462320" cy="3528720"/>
          </a:xfrm>
          <a:prstGeom prst="roundRect">
            <a:avLst>
              <a:gd name="adj" fmla="val 625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 name="Shape 37"/>
          <p:cNvSpPr/>
          <p:nvPr/>
        </p:nvSpPr>
        <p:spPr>
          <a:xfrm>
            <a:off x="3849480" y="749880"/>
            <a:ext cx="1462320" cy="712440"/>
          </a:xfrm>
          <a:prstGeom prst="roundRect">
            <a:avLst>
              <a:gd name="adj" fmla="val 12821"/>
            </a:avLst>
          </a:prstGeom>
          <a:solidFill>
            <a:srgbClr val="0F766E"/>
          </a:solidFill>
          <a:ln w="12700">
            <a:solidFill>
              <a:srgbClr val="0F7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7" name="Shape 38"/>
          <p:cNvSpPr/>
          <p:nvPr/>
        </p:nvSpPr>
        <p:spPr>
          <a:xfrm>
            <a:off x="3849480" y="1106280"/>
            <a:ext cx="1462320" cy="356040"/>
          </a:xfrm>
          <a:prstGeom prst="rect">
            <a:avLst/>
          </a:prstGeom>
          <a:solidFill>
            <a:srgbClr val="0F766E"/>
          </a:solidFill>
          <a:ln w="12700">
            <a:solidFill>
              <a:srgbClr val="0F7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 name="Text 39"/>
          <p:cNvSpPr/>
          <p:nvPr/>
        </p:nvSpPr>
        <p:spPr>
          <a:xfrm>
            <a:off x="3849480" y="813960"/>
            <a:ext cx="1462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SILVER</a:t>
            </a:r>
            <a:endParaRPr lang="en-US" sz="1100" b="0" u="none" strike="noStrike">
              <a:solidFill>
                <a:srgbClr val="000000"/>
              </a:solidFill>
              <a:effectLst/>
              <a:uFillTx/>
              <a:latin typeface="Arial"/>
            </a:endParaRPr>
          </a:p>
        </p:txBody>
      </p:sp>
      <p:sp>
        <p:nvSpPr>
          <p:cNvPr id="99" name="Text 40"/>
          <p:cNvSpPr/>
          <p:nvPr/>
        </p:nvSpPr>
        <p:spPr>
          <a:xfrm>
            <a:off x="3849480" y="1115640"/>
            <a:ext cx="146232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i="1" u="none" strike="noStrike">
                <a:solidFill>
                  <a:srgbClr val="DBEAFE"/>
                </a:solidFill>
                <a:effectLst/>
                <a:uFillTx/>
                <a:latin typeface="Calibri"/>
                <a:ea typeface="Calibri"/>
              </a:rPr>
              <a:t>silver_*.ipynb × 2</a:t>
            </a:r>
            <a:endParaRPr lang="en-US" sz="850" b="0" u="none" strike="noStrike">
              <a:solidFill>
                <a:srgbClr val="000000"/>
              </a:solidFill>
              <a:effectLst/>
              <a:uFillTx/>
              <a:latin typeface="Arial"/>
            </a:endParaRPr>
          </a:p>
        </p:txBody>
      </p:sp>
      <p:sp>
        <p:nvSpPr>
          <p:cNvPr id="100" name="Shape 41"/>
          <p:cNvSpPr/>
          <p:nvPr/>
        </p:nvSpPr>
        <p:spPr>
          <a:xfrm>
            <a:off x="3959280" y="1481400"/>
            <a:ext cx="1242720" cy="1584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28440" rIns="90000" bIns="-28440" anchor="t">
            <a:noAutofit/>
          </a:bodyPr>
          <a:lstStyle/>
          <a:p>
            <a:endParaRPr lang="en-US" sz="1800" b="0" u="none" strike="noStrike">
              <a:solidFill>
                <a:srgbClr val="000000"/>
              </a:solidFill>
              <a:effectLst/>
              <a:uFillTx/>
              <a:latin typeface="Arial"/>
            </a:endParaRPr>
          </a:p>
        </p:txBody>
      </p:sp>
      <p:sp>
        <p:nvSpPr>
          <p:cNvPr id="101" name="Text 42"/>
          <p:cNvSpPr/>
          <p:nvPr/>
        </p:nvSpPr>
        <p:spPr>
          <a:xfrm>
            <a:off x="3968640" y="15544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Filter: keep 1998–2018</a:t>
            </a:r>
            <a:endParaRPr lang="en-US" sz="850" b="0" u="none" strike="noStrike">
              <a:solidFill>
                <a:srgbClr val="000000"/>
              </a:solidFill>
              <a:effectLst/>
              <a:uFillTx/>
              <a:latin typeface="Arial"/>
            </a:endParaRPr>
          </a:p>
        </p:txBody>
      </p:sp>
      <p:sp>
        <p:nvSpPr>
          <p:cNvPr id="102" name="Text 43"/>
          <p:cNvSpPr/>
          <p:nvPr/>
        </p:nvSpPr>
        <p:spPr>
          <a:xfrm>
            <a:off x="3968640" y="181512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Fix 4 team name typos</a:t>
            </a:r>
            <a:endParaRPr lang="en-US" sz="800" b="0" u="none" strike="noStrike">
              <a:solidFill>
                <a:srgbClr val="000000"/>
              </a:solidFill>
              <a:effectLst/>
              <a:uFillTx/>
              <a:latin typeface="Arial"/>
            </a:endParaRPr>
          </a:p>
        </p:txBody>
      </p:sp>
      <p:sp>
        <p:nvSpPr>
          <p:cNvPr id="103" name="Text 44"/>
          <p:cNvSpPr/>
          <p:nvPr/>
        </p:nvSpPr>
        <p:spPr>
          <a:xfrm>
            <a:off x="3968640" y="20757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Melt: wide → long</a:t>
            </a:r>
            <a:endParaRPr lang="en-US" sz="850" b="0" u="none" strike="noStrike">
              <a:solidFill>
                <a:srgbClr val="000000"/>
              </a:solidFill>
              <a:effectLst/>
              <a:uFillTx/>
              <a:latin typeface="Arial"/>
            </a:endParaRPr>
          </a:p>
        </p:txBody>
      </p:sp>
      <p:sp>
        <p:nvSpPr>
          <p:cNvPr id="104" name="Text 45"/>
          <p:cNvSpPr/>
          <p:nvPr/>
        </p:nvSpPr>
        <p:spPr>
          <a:xfrm>
            <a:off x="3968640" y="233640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country_mapping (60 entries)</a:t>
            </a:r>
            <a:endParaRPr lang="en-US" sz="800" b="0" u="none" strike="noStrike">
              <a:solidFill>
                <a:srgbClr val="000000"/>
              </a:solidFill>
              <a:effectLst/>
              <a:uFillTx/>
              <a:latin typeface="Arial"/>
            </a:endParaRPr>
          </a:p>
        </p:txBody>
      </p:sp>
      <p:sp>
        <p:nvSpPr>
          <p:cNvPr id="105" name="Text 46"/>
          <p:cNvSpPr/>
          <p:nvPr/>
        </p:nvSpPr>
        <p:spPr>
          <a:xfrm>
            <a:off x="3968640" y="259704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UK split → 4 nations</a:t>
            </a:r>
            <a:endParaRPr lang="en-US" sz="850" b="0" u="none" strike="noStrike">
              <a:solidFill>
                <a:srgbClr val="000000"/>
              </a:solidFill>
              <a:effectLst/>
              <a:uFillTx/>
              <a:latin typeface="Arial"/>
            </a:endParaRPr>
          </a:p>
        </p:txBody>
      </p:sp>
      <p:sp>
        <p:nvSpPr>
          <p:cNvPr id="106" name="Text 47"/>
          <p:cNvSpPr/>
          <p:nvPr/>
        </p:nvSpPr>
        <p:spPr>
          <a:xfrm>
            <a:off x="3968640" y="28576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ONS census pop. shares</a:t>
            </a:r>
            <a:endParaRPr lang="en-US" sz="800" b="0" u="none" strike="noStrike">
              <a:solidFill>
                <a:srgbClr val="000000"/>
              </a:solidFill>
              <a:effectLst/>
              <a:uFillTx/>
              <a:latin typeface="Arial"/>
            </a:endParaRPr>
          </a:p>
        </p:txBody>
      </p:sp>
      <p:sp>
        <p:nvSpPr>
          <p:cNvPr id="107" name="Text 48"/>
          <p:cNvSpPr/>
          <p:nvPr/>
        </p:nvSpPr>
        <p:spPr>
          <a:xfrm>
            <a:off x="3968640" y="31179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Quarantine invalid rows</a:t>
            </a:r>
            <a:endParaRPr lang="en-US" sz="800" b="0" u="none" strike="noStrike">
              <a:solidFill>
                <a:srgbClr val="000000"/>
              </a:solidFill>
              <a:effectLst/>
              <a:uFillTx/>
              <a:latin typeface="Arial"/>
            </a:endParaRPr>
          </a:p>
        </p:txBody>
      </p:sp>
      <p:sp>
        <p:nvSpPr>
          <p:cNvPr id="108" name="Shape 49"/>
          <p:cNvSpPr/>
          <p:nvPr/>
        </p:nvSpPr>
        <p:spPr>
          <a:xfrm>
            <a:off x="3940920" y="3675960"/>
            <a:ext cx="1279440" cy="520560"/>
          </a:xfrm>
          <a:prstGeom prst="roundRect">
            <a:avLst>
              <a:gd name="adj" fmla="val 12281"/>
            </a:avLst>
          </a:prstGeom>
          <a:solidFill>
            <a:srgbClr val="0F766E">
              <a:alpha val="12000"/>
            </a:srgbClr>
          </a:solidFill>
          <a:ln w="12700">
            <a:solidFill>
              <a:srgbClr val="0F766E">
                <a:alpha val="5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Text 50"/>
          <p:cNvSpPr/>
          <p:nvPr/>
        </p:nvSpPr>
        <p:spPr>
          <a:xfrm>
            <a:off x="3940920" y="3703320"/>
            <a:ext cx="127944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1" u="none" strike="noStrike">
                <a:solidFill>
                  <a:srgbClr val="0F766E"/>
                </a:solidFill>
                <a:effectLst/>
                <a:uFillTx/>
                <a:latin typeface="Calibri"/>
                <a:ea typeface="Calibri"/>
              </a:rPr>
              <a:t>data/silver/</a:t>
            </a:r>
            <a:endParaRPr lang="en-US" sz="900" b="0" u="none" strike="noStrike">
              <a:solidFill>
                <a:srgbClr val="000000"/>
              </a:solidFill>
              <a:effectLst/>
              <a:uFillTx/>
              <a:latin typeface="Arial"/>
            </a:endParaRPr>
          </a:p>
        </p:txBody>
      </p:sp>
      <p:sp>
        <p:nvSpPr>
          <p:cNvPr id="110" name="Text 51"/>
          <p:cNvSpPr/>
          <p:nvPr/>
        </p:nvSpPr>
        <p:spPr>
          <a:xfrm>
            <a:off x="3940920" y="3922920"/>
            <a:ext cx="1279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i="1" u="none" strike="noStrike">
                <a:solidFill>
                  <a:srgbClr val="0F766E"/>
                </a:solidFill>
                <a:effectLst/>
                <a:uFillTx/>
                <a:latin typeface="Calibri"/>
                <a:ea typeface="Calibri"/>
              </a:rPr>
              <a:t>384 WC rows · socioeconomics</a:t>
            </a:r>
            <a:endParaRPr lang="en-US" sz="750" b="0" u="none" strike="noStrike">
              <a:solidFill>
                <a:srgbClr val="000000"/>
              </a:solidFill>
              <a:effectLst/>
              <a:uFillTx/>
              <a:latin typeface="Arial"/>
            </a:endParaRPr>
          </a:p>
        </p:txBody>
      </p:sp>
      <p:sp>
        <p:nvSpPr>
          <p:cNvPr id="111" name="Shape 52"/>
          <p:cNvSpPr/>
          <p:nvPr/>
        </p:nvSpPr>
        <p:spPr>
          <a:xfrm>
            <a:off x="5349240" y="2514600"/>
            <a:ext cx="182880" cy="360"/>
          </a:xfrm>
          <a:prstGeom prst="line">
            <a:avLst/>
          </a:prstGeom>
          <a:ln w="25400">
            <a:solidFill>
              <a:srgbClr val="64748B"/>
            </a:solidFill>
            <a:round/>
            <a:tailEnd type="arrow"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12" name="Shape 53"/>
          <p:cNvSpPr/>
          <p:nvPr/>
        </p:nvSpPr>
        <p:spPr>
          <a:xfrm>
            <a:off x="5568840" y="749880"/>
            <a:ext cx="1462320" cy="3528720"/>
          </a:xfrm>
          <a:prstGeom prst="roundRect">
            <a:avLst>
              <a:gd name="adj" fmla="val 625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 name="Shape 54"/>
          <p:cNvSpPr/>
          <p:nvPr/>
        </p:nvSpPr>
        <p:spPr>
          <a:xfrm>
            <a:off x="5568840" y="749880"/>
            <a:ext cx="1462320" cy="712440"/>
          </a:xfrm>
          <a:prstGeom prst="roundRect">
            <a:avLst>
              <a:gd name="adj" fmla="val 12821"/>
            </a:avLst>
          </a:prstGeom>
          <a:solidFill>
            <a:srgbClr val="1C2D4E"/>
          </a:solidFill>
          <a:ln w="12700">
            <a:solidFill>
              <a:srgbClr val="1C2D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4" name="Shape 55"/>
          <p:cNvSpPr/>
          <p:nvPr/>
        </p:nvSpPr>
        <p:spPr>
          <a:xfrm>
            <a:off x="5568840" y="1106280"/>
            <a:ext cx="1462320" cy="356040"/>
          </a:xfrm>
          <a:prstGeom prst="rect">
            <a:avLst/>
          </a:prstGeom>
          <a:solidFill>
            <a:srgbClr val="1C2D4E"/>
          </a:solidFill>
          <a:ln w="12700">
            <a:solidFill>
              <a:srgbClr val="1C2D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5" name="Text 56"/>
          <p:cNvSpPr/>
          <p:nvPr/>
        </p:nvSpPr>
        <p:spPr>
          <a:xfrm>
            <a:off x="5568840" y="813960"/>
            <a:ext cx="1462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GOLD</a:t>
            </a:r>
            <a:endParaRPr lang="en-US" sz="1100" b="0" u="none" strike="noStrike">
              <a:solidFill>
                <a:srgbClr val="000000"/>
              </a:solidFill>
              <a:effectLst/>
              <a:uFillTx/>
              <a:latin typeface="Arial"/>
            </a:endParaRPr>
          </a:p>
        </p:txBody>
      </p:sp>
      <p:sp>
        <p:nvSpPr>
          <p:cNvPr id="116" name="Text 57"/>
          <p:cNvSpPr/>
          <p:nvPr/>
        </p:nvSpPr>
        <p:spPr>
          <a:xfrm>
            <a:off x="5568840" y="1115640"/>
            <a:ext cx="146232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i="1" u="none" strike="noStrike">
                <a:solidFill>
                  <a:srgbClr val="DBEAFE"/>
                </a:solidFill>
                <a:effectLst/>
                <a:uFillTx/>
                <a:latin typeface="Calibri"/>
                <a:ea typeface="Calibri"/>
              </a:rPr>
              <a:t>gold_*.ipynb · SQL SPs</a:t>
            </a:r>
            <a:endParaRPr lang="en-US" sz="850" b="0" u="none" strike="noStrike">
              <a:solidFill>
                <a:srgbClr val="000000"/>
              </a:solidFill>
              <a:effectLst/>
              <a:uFillTx/>
              <a:latin typeface="Arial"/>
            </a:endParaRPr>
          </a:p>
        </p:txBody>
      </p:sp>
      <p:sp>
        <p:nvSpPr>
          <p:cNvPr id="117" name="Shape 58"/>
          <p:cNvSpPr/>
          <p:nvPr/>
        </p:nvSpPr>
        <p:spPr>
          <a:xfrm>
            <a:off x="5678280" y="1481400"/>
            <a:ext cx="1242720" cy="1584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28440" rIns="90000" bIns="-28440" anchor="t">
            <a:noAutofit/>
          </a:bodyPr>
          <a:lstStyle/>
          <a:p>
            <a:endParaRPr lang="en-US" sz="1800" b="0" u="none" strike="noStrike">
              <a:solidFill>
                <a:srgbClr val="000000"/>
              </a:solidFill>
              <a:effectLst/>
              <a:uFillTx/>
              <a:latin typeface="Arial"/>
            </a:endParaRPr>
          </a:p>
        </p:txBody>
      </p:sp>
      <p:sp>
        <p:nvSpPr>
          <p:cNvPr id="118" name="Text 59"/>
          <p:cNvSpPr/>
          <p:nvPr/>
        </p:nvSpPr>
        <p:spPr>
          <a:xfrm>
            <a:off x="5687640" y="15544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Unpivot: 1 row/team/match</a:t>
            </a:r>
            <a:endParaRPr lang="en-US" sz="850" b="0" u="none" strike="noStrike">
              <a:solidFill>
                <a:srgbClr val="000000"/>
              </a:solidFill>
              <a:effectLst/>
              <a:uFillTx/>
              <a:latin typeface="Arial"/>
            </a:endParaRPr>
          </a:p>
        </p:txBody>
      </p:sp>
      <p:sp>
        <p:nvSpPr>
          <p:cNvPr id="119" name="Text 60"/>
          <p:cNvSpPr/>
          <p:nvPr/>
        </p:nvSpPr>
        <p:spPr>
          <a:xfrm>
            <a:off x="5687640" y="181512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Surrogate FK IDs</a:t>
            </a:r>
            <a:endParaRPr lang="en-US" sz="800" b="0" u="none" strike="noStrike">
              <a:solidFill>
                <a:srgbClr val="000000"/>
              </a:solidFill>
              <a:effectLst/>
              <a:uFillTx/>
              <a:latin typeface="Arial"/>
            </a:endParaRPr>
          </a:p>
        </p:txBody>
      </p:sp>
      <p:sp>
        <p:nvSpPr>
          <p:cNvPr id="120" name="Text 61"/>
          <p:cNvSpPr/>
          <p:nvPr/>
        </p:nvSpPr>
        <p:spPr>
          <a:xfrm>
            <a:off x="5687640" y="20757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performance_stars 1–6</a:t>
            </a:r>
            <a:endParaRPr lang="en-US" sz="850" b="0" u="none" strike="noStrike">
              <a:solidFill>
                <a:srgbClr val="000000"/>
              </a:solidFill>
              <a:effectLst/>
              <a:uFillTx/>
              <a:latin typeface="Arial"/>
            </a:endParaRPr>
          </a:p>
        </p:txBody>
      </p:sp>
      <p:sp>
        <p:nvSpPr>
          <p:cNvPr id="121" name="Text 62"/>
          <p:cNvSpPr/>
          <p:nvPr/>
        </p:nvSpPr>
        <p:spPr>
          <a:xfrm>
            <a:off x="5687640" y="233640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is_host flag (2002 ok)</a:t>
            </a:r>
            <a:endParaRPr lang="en-US" sz="800" b="0" u="none" strike="noStrike">
              <a:solidFill>
                <a:srgbClr val="000000"/>
              </a:solidFill>
              <a:effectLst/>
              <a:uFillTx/>
              <a:latin typeface="Arial"/>
            </a:endParaRPr>
          </a:p>
        </p:txBody>
      </p:sp>
      <p:sp>
        <p:nvSpPr>
          <p:cNvPr id="122" name="Text 63"/>
          <p:cNvSpPr/>
          <p:nvPr/>
        </p:nvSpPr>
        <p:spPr>
          <a:xfrm>
            <a:off x="5687640" y="259704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Socioeconomic join</a:t>
            </a:r>
            <a:endParaRPr lang="en-US" sz="850" b="0" u="none" strike="noStrike">
              <a:solidFill>
                <a:srgbClr val="000000"/>
              </a:solidFill>
              <a:effectLst/>
              <a:uFillTx/>
              <a:latin typeface="Arial"/>
            </a:endParaRPr>
          </a:p>
        </p:txBody>
      </p:sp>
      <p:sp>
        <p:nvSpPr>
          <p:cNvPr id="123" name="Text 64"/>
          <p:cNvSpPr/>
          <p:nvPr/>
        </p:nvSpPr>
        <p:spPr>
          <a:xfrm>
            <a:off x="5687640" y="28576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country + year key</a:t>
            </a:r>
            <a:endParaRPr lang="en-US" sz="800" b="0" u="none" strike="noStrike">
              <a:solidFill>
                <a:srgbClr val="000000"/>
              </a:solidFill>
              <a:effectLst/>
              <a:uFillTx/>
              <a:latin typeface="Arial"/>
            </a:endParaRPr>
          </a:p>
        </p:txBody>
      </p:sp>
      <p:sp>
        <p:nvSpPr>
          <p:cNvPr id="124" name="Text 65"/>
          <p:cNvSpPr/>
          <p:nvPr/>
        </p:nvSpPr>
        <p:spPr>
          <a:xfrm>
            <a:off x="5687640" y="31179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Load → Azure SQL dbo</a:t>
            </a:r>
            <a:endParaRPr lang="en-US" sz="800" b="0" u="none" strike="noStrike">
              <a:solidFill>
                <a:srgbClr val="000000"/>
              </a:solidFill>
              <a:effectLst/>
              <a:uFillTx/>
              <a:latin typeface="Arial"/>
            </a:endParaRPr>
          </a:p>
        </p:txBody>
      </p:sp>
      <p:sp>
        <p:nvSpPr>
          <p:cNvPr id="125" name="Shape 66"/>
          <p:cNvSpPr/>
          <p:nvPr/>
        </p:nvSpPr>
        <p:spPr>
          <a:xfrm>
            <a:off x="5660280" y="3675960"/>
            <a:ext cx="1279440" cy="520560"/>
          </a:xfrm>
          <a:prstGeom prst="roundRect">
            <a:avLst>
              <a:gd name="adj" fmla="val 12281"/>
            </a:avLst>
          </a:prstGeom>
          <a:solidFill>
            <a:srgbClr val="1C2D4E">
              <a:alpha val="12000"/>
            </a:srgbClr>
          </a:solidFill>
          <a:ln w="12700">
            <a:solidFill>
              <a:srgbClr val="1C2D4E">
                <a:alpha val="5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 name="Text 67"/>
          <p:cNvSpPr/>
          <p:nvPr/>
        </p:nvSpPr>
        <p:spPr>
          <a:xfrm>
            <a:off x="5660280" y="3703320"/>
            <a:ext cx="127944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1" u="none" strike="noStrike">
                <a:solidFill>
                  <a:srgbClr val="1C2D4E"/>
                </a:solidFill>
                <a:effectLst/>
                <a:uFillTx/>
                <a:latin typeface="Calibri"/>
                <a:ea typeface="Calibri"/>
              </a:rPr>
              <a:t>fact_wc_match</a:t>
            </a:r>
            <a:endParaRPr lang="en-US" sz="900" b="0" u="none" strike="noStrike">
              <a:solidFill>
                <a:srgbClr val="000000"/>
              </a:solidFill>
              <a:effectLst/>
              <a:uFillTx/>
              <a:latin typeface="Arial"/>
            </a:endParaRPr>
          </a:p>
        </p:txBody>
      </p:sp>
      <p:sp>
        <p:nvSpPr>
          <p:cNvPr id="127" name="Text 68"/>
          <p:cNvSpPr/>
          <p:nvPr/>
        </p:nvSpPr>
        <p:spPr>
          <a:xfrm>
            <a:off x="5660280" y="3922920"/>
            <a:ext cx="1279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i="1" u="none" strike="noStrike">
                <a:solidFill>
                  <a:srgbClr val="1C2D4E"/>
                </a:solidFill>
                <a:effectLst/>
                <a:uFillTx/>
                <a:latin typeface="Calibri"/>
                <a:ea typeface="Calibri"/>
              </a:rPr>
              <a:t>768 rows + 3 dim tables</a:t>
            </a:r>
            <a:endParaRPr lang="en-US" sz="750" b="0" u="none" strike="noStrike">
              <a:solidFill>
                <a:srgbClr val="000000"/>
              </a:solidFill>
              <a:effectLst/>
              <a:uFillTx/>
              <a:latin typeface="Arial"/>
            </a:endParaRPr>
          </a:p>
        </p:txBody>
      </p:sp>
      <p:sp>
        <p:nvSpPr>
          <p:cNvPr id="128" name="Shape 69"/>
          <p:cNvSpPr/>
          <p:nvPr/>
        </p:nvSpPr>
        <p:spPr>
          <a:xfrm>
            <a:off x="7068240" y="2514600"/>
            <a:ext cx="182880" cy="360"/>
          </a:xfrm>
          <a:prstGeom prst="line">
            <a:avLst/>
          </a:prstGeom>
          <a:ln w="25400">
            <a:solidFill>
              <a:srgbClr val="64748B"/>
            </a:solidFill>
            <a:round/>
            <a:tailEnd type="arrow"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9" name="Shape 70"/>
          <p:cNvSpPr/>
          <p:nvPr/>
        </p:nvSpPr>
        <p:spPr>
          <a:xfrm>
            <a:off x="7287840" y="749880"/>
            <a:ext cx="1462320" cy="3528720"/>
          </a:xfrm>
          <a:prstGeom prst="roundRect">
            <a:avLst>
              <a:gd name="adj" fmla="val 6250"/>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Shape 71"/>
          <p:cNvSpPr/>
          <p:nvPr/>
        </p:nvSpPr>
        <p:spPr>
          <a:xfrm>
            <a:off x="7287840" y="749880"/>
            <a:ext cx="1462320" cy="712440"/>
          </a:xfrm>
          <a:prstGeom prst="roundRect">
            <a:avLst>
              <a:gd name="adj" fmla="val 12821"/>
            </a:avLst>
          </a:prstGeom>
          <a:solidFill>
            <a:srgbClr val="7C3AED"/>
          </a:solidFill>
          <a:ln w="12700">
            <a:solidFill>
              <a:srgbClr val="7C3A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Shape 72"/>
          <p:cNvSpPr/>
          <p:nvPr/>
        </p:nvSpPr>
        <p:spPr>
          <a:xfrm>
            <a:off x="7287840" y="1106280"/>
            <a:ext cx="1462320" cy="356040"/>
          </a:xfrm>
          <a:prstGeom prst="rect">
            <a:avLst/>
          </a:prstGeom>
          <a:solidFill>
            <a:srgbClr val="7C3AED"/>
          </a:solidFill>
          <a:ln w="12700">
            <a:solidFill>
              <a:srgbClr val="7C3A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 name="Text 73"/>
          <p:cNvSpPr/>
          <p:nvPr/>
        </p:nvSpPr>
        <p:spPr>
          <a:xfrm>
            <a:off x="7287840" y="813960"/>
            <a:ext cx="14623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POWER BI</a:t>
            </a:r>
            <a:endParaRPr lang="en-US" sz="1100" b="0" u="none" strike="noStrike">
              <a:solidFill>
                <a:srgbClr val="000000"/>
              </a:solidFill>
              <a:effectLst/>
              <a:uFillTx/>
              <a:latin typeface="Arial"/>
            </a:endParaRPr>
          </a:p>
        </p:txBody>
      </p:sp>
      <p:sp>
        <p:nvSpPr>
          <p:cNvPr id="133" name="Text 74"/>
          <p:cNvSpPr/>
          <p:nvPr/>
        </p:nvSpPr>
        <p:spPr>
          <a:xfrm>
            <a:off x="7287840" y="1115640"/>
            <a:ext cx="146232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50" b="0" i="1" u="none" strike="noStrike">
                <a:solidFill>
                  <a:srgbClr val="DBEAFE"/>
                </a:solidFill>
                <a:effectLst/>
                <a:uFillTx/>
                <a:latin typeface="Calibri"/>
                <a:ea typeface="Calibri"/>
              </a:rPr>
              <a:t>Power BI Desktop</a:t>
            </a:r>
            <a:endParaRPr lang="en-US" sz="850" b="0" u="none" strike="noStrike">
              <a:solidFill>
                <a:srgbClr val="000000"/>
              </a:solidFill>
              <a:effectLst/>
              <a:uFillTx/>
              <a:latin typeface="Arial"/>
            </a:endParaRPr>
          </a:p>
        </p:txBody>
      </p:sp>
      <p:sp>
        <p:nvSpPr>
          <p:cNvPr id="134" name="Shape 75"/>
          <p:cNvSpPr/>
          <p:nvPr/>
        </p:nvSpPr>
        <p:spPr>
          <a:xfrm>
            <a:off x="7397640" y="1481400"/>
            <a:ext cx="1242720" cy="1584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28440" rIns="90000" bIns="-28440" anchor="t">
            <a:noAutofit/>
          </a:bodyPr>
          <a:lstStyle/>
          <a:p>
            <a:endParaRPr lang="en-US" sz="1800" b="0" u="none" strike="noStrike">
              <a:solidFill>
                <a:srgbClr val="000000"/>
              </a:solidFill>
              <a:effectLst/>
              <a:uFillTx/>
              <a:latin typeface="Arial"/>
            </a:endParaRPr>
          </a:p>
        </p:txBody>
      </p:sp>
      <p:sp>
        <p:nvSpPr>
          <p:cNvPr id="135" name="Text 76"/>
          <p:cNvSpPr/>
          <p:nvPr/>
        </p:nvSpPr>
        <p:spPr>
          <a:xfrm>
            <a:off x="7406640" y="15544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DirectQuery on Gold</a:t>
            </a:r>
            <a:endParaRPr lang="en-US" sz="850" b="0" u="none" strike="noStrike">
              <a:solidFill>
                <a:srgbClr val="000000"/>
              </a:solidFill>
              <a:effectLst/>
              <a:uFillTx/>
              <a:latin typeface="Arial"/>
            </a:endParaRPr>
          </a:p>
        </p:txBody>
      </p:sp>
      <p:sp>
        <p:nvSpPr>
          <p:cNvPr id="136" name="Text 77"/>
          <p:cNvSpPr/>
          <p:nvPr/>
        </p:nvSpPr>
        <p:spPr>
          <a:xfrm>
            <a:off x="7406640" y="181512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Page 1:</a:t>
            </a:r>
            <a:endParaRPr lang="en-US" sz="850" b="0" u="none" strike="noStrike">
              <a:solidFill>
                <a:srgbClr val="000000"/>
              </a:solidFill>
              <a:effectLst/>
              <a:uFillTx/>
              <a:latin typeface="Arial"/>
            </a:endParaRPr>
          </a:p>
        </p:txBody>
      </p:sp>
      <p:sp>
        <p:nvSpPr>
          <p:cNvPr id="137" name="Text 78"/>
          <p:cNvSpPr/>
          <p:nvPr/>
        </p:nvSpPr>
        <p:spPr>
          <a:xfrm>
            <a:off x="7406640" y="20757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Tournament perf.</a:t>
            </a:r>
            <a:endParaRPr lang="en-US" sz="800" b="0" u="none" strike="noStrike">
              <a:solidFill>
                <a:srgbClr val="000000"/>
              </a:solidFill>
              <a:effectLst/>
              <a:uFillTx/>
              <a:latin typeface="Arial"/>
            </a:endParaRPr>
          </a:p>
        </p:txBody>
      </p:sp>
      <p:sp>
        <p:nvSpPr>
          <p:cNvPr id="138" name="Text 79"/>
          <p:cNvSpPr/>
          <p:nvPr/>
        </p:nvSpPr>
        <p:spPr>
          <a:xfrm>
            <a:off x="7406640" y="233640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by country</a:t>
            </a:r>
            <a:endParaRPr lang="en-US" sz="800" b="0" u="none" strike="noStrike">
              <a:solidFill>
                <a:srgbClr val="000000"/>
              </a:solidFill>
              <a:effectLst/>
              <a:uFillTx/>
              <a:latin typeface="Arial"/>
            </a:endParaRPr>
          </a:p>
        </p:txBody>
      </p:sp>
      <p:sp>
        <p:nvSpPr>
          <p:cNvPr id="139" name="Text 80"/>
          <p:cNvSpPr/>
          <p:nvPr/>
        </p:nvSpPr>
        <p:spPr>
          <a:xfrm>
            <a:off x="7406640" y="259704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50" b="1" u="none" strike="noStrike">
                <a:solidFill>
                  <a:srgbClr val="1E293B"/>
                </a:solidFill>
                <a:effectLst/>
                <a:uFillTx/>
                <a:latin typeface="Calibri"/>
                <a:ea typeface="Calibri"/>
              </a:rPr>
              <a:t>Page 2:</a:t>
            </a:r>
            <a:endParaRPr lang="en-US" sz="850" b="0" u="none" strike="noStrike">
              <a:solidFill>
                <a:srgbClr val="000000"/>
              </a:solidFill>
              <a:effectLst/>
              <a:uFillTx/>
              <a:latin typeface="Arial"/>
            </a:endParaRPr>
          </a:p>
        </p:txBody>
      </p:sp>
      <p:sp>
        <p:nvSpPr>
          <p:cNvPr id="140" name="Text 81"/>
          <p:cNvSpPr/>
          <p:nvPr/>
        </p:nvSpPr>
        <p:spPr>
          <a:xfrm>
            <a:off x="7406640" y="285768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GDP vs. performance</a:t>
            </a:r>
            <a:endParaRPr lang="en-US" sz="800" b="0" u="none" strike="noStrike">
              <a:solidFill>
                <a:srgbClr val="000000"/>
              </a:solidFill>
              <a:effectLst/>
              <a:uFillTx/>
              <a:latin typeface="Arial"/>
            </a:endParaRPr>
          </a:p>
        </p:txBody>
      </p:sp>
      <p:sp>
        <p:nvSpPr>
          <p:cNvPr id="141" name="Text 82"/>
          <p:cNvSpPr/>
          <p:nvPr/>
        </p:nvSpPr>
        <p:spPr>
          <a:xfrm>
            <a:off x="7406640" y="3117960"/>
            <a:ext cx="1224720" cy="24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64748B"/>
                </a:solidFill>
                <a:effectLst/>
                <a:uFillTx/>
                <a:latin typeface="Calibri"/>
                <a:ea typeface="Calibri"/>
              </a:rPr>
              <a:t>scatter plot</a:t>
            </a:r>
            <a:endParaRPr lang="en-US" sz="800" b="0" u="none" strike="noStrike">
              <a:solidFill>
                <a:srgbClr val="000000"/>
              </a:solidFill>
              <a:effectLst/>
              <a:uFillTx/>
              <a:latin typeface="Arial"/>
            </a:endParaRPr>
          </a:p>
        </p:txBody>
      </p:sp>
      <p:sp>
        <p:nvSpPr>
          <p:cNvPr id="142" name="Shape 83"/>
          <p:cNvSpPr/>
          <p:nvPr/>
        </p:nvSpPr>
        <p:spPr>
          <a:xfrm>
            <a:off x="7379280" y="3675960"/>
            <a:ext cx="1279440" cy="520560"/>
          </a:xfrm>
          <a:prstGeom prst="roundRect">
            <a:avLst>
              <a:gd name="adj" fmla="val 12281"/>
            </a:avLst>
          </a:prstGeom>
          <a:solidFill>
            <a:srgbClr val="7C3AED">
              <a:alpha val="12000"/>
            </a:srgbClr>
          </a:solidFill>
          <a:ln w="12700">
            <a:solidFill>
              <a:srgbClr val="7C3AED">
                <a:alpha val="5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3" name="Text 84"/>
          <p:cNvSpPr/>
          <p:nvPr/>
        </p:nvSpPr>
        <p:spPr>
          <a:xfrm>
            <a:off x="7379280" y="3703320"/>
            <a:ext cx="127944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1" u="none" strike="noStrike">
                <a:solidFill>
                  <a:srgbClr val="7C3AED"/>
                </a:solidFill>
                <a:effectLst/>
                <a:uFillTx/>
                <a:latin typeface="Calibri"/>
                <a:ea typeface="Calibri"/>
              </a:rPr>
              <a:t>2 report pages</a:t>
            </a:r>
            <a:endParaRPr lang="en-US" sz="900" b="0" u="none" strike="noStrike">
              <a:solidFill>
                <a:srgbClr val="000000"/>
              </a:solidFill>
              <a:effectLst/>
              <a:uFillTx/>
              <a:latin typeface="Arial"/>
            </a:endParaRPr>
          </a:p>
        </p:txBody>
      </p:sp>
      <p:sp>
        <p:nvSpPr>
          <p:cNvPr id="144" name="Text 85"/>
          <p:cNvSpPr/>
          <p:nvPr/>
        </p:nvSpPr>
        <p:spPr>
          <a:xfrm>
            <a:off x="7379280" y="3922920"/>
            <a:ext cx="1279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50" b="0" i="1" u="none" strike="noStrike">
                <a:solidFill>
                  <a:srgbClr val="7C3AED"/>
                </a:solidFill>
                <a:effectLst/>
                <a:uFillTx/>
                <a:latin typeface="Calibri"/>
                <a:ea typeface="Calibri"/>
              </a:rPr>
              <a:t>Gold layer only</a:t>
            </a:r>
            <a:endParaRPr lang="en-US" sz="7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145" name="Text 0"/>
          <p:cNvSpPr/>
          <p:nvPr/>
        </p:nvSpPr>
        <p:spPr>
          <a:xfrm>
            <a:off x="457200" y="16452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Silver Layer — Python Cleaning</a:t>
            </a:r>
            <a:endParaRPr lang="en-US" sz="2600" b="0" u="none" strike="noStrike">
              <a:solidFill>
                <a:srgbClr val="000000"/>
              </a:solidFill>
              <a:effectLst/>
              <a:uFillTx/>
              <a:latin typeface="Arial"/>
            </a:endParaRPr>
          </a:p>
        </p:txBody>
      </p:sp>
      <p:sp>
        <p:nvSpPr>
          <p:cNvPr id="146" name="Shape 1"/>
          <p:cNvSpPr/>
          <p:nvPr/>
        </p:nvSpPr>
        <p:spPr>
          <a:xfrm>
            <a:off x="365760" y="749880"/>
            <a:ext cx="4114080" cy="4205520"/>
          </a:xfrm>
          <a:prstGeom prst="roundRect">
            <a:avLst>
              <a:gd name="adj" fmla="val 2222"/>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 name="Shape 2"/>
          <p:cNvSpPr/>
          <p:nvPr/>
        </p:nvSpPr>
        <p:spPr>
          <a:xfrm>
            <a:off x="502920" y="777240"/>
            <a:ext cx="3839760" cy="365040"/>
          </a:xfrm>
          <a:prstGeom prst="roundRect">
            <a:avLst>
              <a:gd name="adj" fmla="val 20000"/>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Text 3"/>
          <p:cNvSpPr/>
          <p:nvPr/>
        </p:nvSpPr>
        <p:spPr>
          <a:xfrm>
            <a:off x="502920" y="777240"/>
            <a:ext cx="383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silver_worldcup.ipynb</a:t>
            </a:r>
            <a:endParaRPr lang="en-US" sz="1100" b="0" u="none" strike="noStrike">
              <a:solidFill>
                <a:srgbClr val="000000"/>
              </a:solidFill>
              <a:effectLst/>
              <a:uFillTx/>
              <a:latin typeface="Arial"/>
            </a:endParaRPr>
          </a:p>
        </p:txBody>
      </p:sp>
      <p:sp>
        <p:nvSpPr>
          <p:cNvPr id="149" name="Text 4"/>
          <p:cNvSpPr/>
          <p:nvPr/>
        </p:nvSpPr>
        <p:spPr>
          <a:xfrm>
            <a:off x="548640" y="126180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1. </a:t>
            </a:r>
            <a:r>
              <a:rPr lang="en-US" sz="1000" b="0" u="none" strike="noStrike">
                <a:solidFill>
                  <a:srgbClr val="1E293B"/>
                </a:solidFill>
                <a:effectLst/>
                <a:uFillTx/>
                <a:latin typeface="Calibri"/>
                <a:ea typeface="Calibri"/>
              </a:rPr>
              <a:t>Load bronze_wc_matches.csv</a:t>
            </a:r>
            <a:endParaRPr lang="en-US" sz="1000" b="0" u="none" strike="noStrike">
              <a:solidFill>
                <a:srgbClr val="000000"/>
              </a:solidFill>
              <a:effectLst/>
              <a:uFillTx/>
              <a:latin typeface="Arial"/>
            </a:endParaRPr>
          </a:p>
        </p:txBody>
      </p:sp>
      <p:sp>
        <p:nvSpPr>
          <p:cNvPr id="150" name="Text 5"/>
          <p:cNvSpPr/>
          <p:nvPr/>
        </p:nvSpPr>
        <p:spPr>
          <a:xfrm>
            <a:off x="548640" y="155448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2. </a:t>
            </a:r>
            <a:r>
              <a:rPr lang="en-US" sz="1000" b="0" u="none" strike="noStrike">
                <a:solidFill>
                  <a:srgbClr val="1E293B"/>
                </a:solidFill>
                <a:effectLst/>
                <a:uFillTx/>
                <a:latin typeface="Calibri"/>
                <a:ea typeface="Calibri"/>
              </a:rPr>
              <a:t>Standardize column names (lowercase, underscore)</a:t>
            </a:r>
            <a:endParaRPr lang="en-US" sz="1000" b="0" u="none" strike="noStrike">
              <a:solidFill>
                <a:srgbClr val="000000"/>
              </a:solidFill>
              <a:effectLst/>
              <a:uFillTx/>
              <a:latin typeface="Arial"/>
            </a:endParaRPr>
          </a:p>
        </p:txBody>
      </p:sp>
      <p:sp>
        <p:nvSpPr>
          <p:cNvPr id="151" name="Text 6"/>
          <p:cNvSpPr/>
          <p:nvPr/>
        </p:nvSpPr>
        <p:spPr>
          <a:xfrm>
            <a:off x="548640" y="184716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3. </a:t>
            </a:r>
            <a:r>
              <a:rPr lang="en-US" sz="1000" b="0" u="none" strike="noStrike">
                <a:solidFill>
                  <a:srgbClr val="1E293B"/>
                </a:solidFill>
                <a:effectLst/>
                <a:uFillTx/>
                <a:latin typeface="Calibri"/>
                <a:ea typeface="Calibri"/>
              </a:rPr>
              <a:t>Strip whitespace from all string columns</a:t>
            </a:r>
            <a:endParaRPr lang="en-US" sz="1000" b="0" u="none" strike="noStrike">
              <a:solidFill>
                <a:srgbClr val="000000"/>
              </a:solidFill>
              <a:effectLst/>
              <a:uFillTx/>
              <a:latin typeface="Arial"/>
            </a:endParaRPr>
          </a:p>
        </p:txBody>
      </p:sp>
      <p:sp>
        <p:nvSpPr>
          <p:cNvPr id="152" name="Text 7"/>
          <p:cNvSpPr/>
          <p:nvPr/>
        </p:nvSpPr>
        <p:spPr>
          <a:xfrm>
            <a:off x="548640" y="213984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4. </a:t>
            </a:r>
            <a:r>
              <a:rPr lang="en-US" sz="1000" b="0" u="none" strike="noStrike">
                <a:solidFill>
                  <a:srgbClr val="1E293B"/>
                </a:solidFill>
                <a:effectLst/>
                <a:uFillTx/>
                <a:latin typeface="Calibri"/>
                <a:ea typeface="Calibri"/>
              </a:rPr>
              <a:t>Parse date → date_clean; extract year</a:t>
            </a:r>
            <a:endParaRPr lang="en-US" sz="1000" b="0" u="none" strike="noStrike">
              <a:solidFill>
                <a:srgbClr val="000000"/>
              </a:solidFill>
              <a:effectLst/>
              <a:uFillTx/>
              <a:latin typeface="Arial"/>
            </a:endParaRPr>
          </a:p>
        </p:txBody>
      </p:sp>
      <p:sp>
        <p:nvSpPr>
          <p:cNvPr id="153" name="Text 8"/>
          <p:cNvSpPr/>
          <p:nvPr/>
        </p:nvSpPr>
        <p:spPr>
          <a:xfrm>
            <a:off x="548640" y="243216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5. </a:t>
            </a:r>
            <a:r>
              <a:rPr lang="en-US" sz="1000" b="0" u="none" strike="noStrike">
                <a:solidFill>
                  <a:srgbClr val="1E293B"/>
                </a:solidFill>
                <a:effectLst/>
                <a:uFillTx/>
                <a:latin typeface="Calibri"/>
                <a:ea typeface="Calibri"/>
              </a:rPr>
              <a:t>Filter: keep 1998–2018 only</a:t>
            </a:r>
            <a:endParaRPr lang="en-US" sz="1000" b="0" u="none" strike="noStrike">
              <a:solidFill>
                <a:srgbClr val="000000"/>
              </a:solidFill>
              <a:effectLst/>
              <a:uFillTx/>
              <a:latin typeface="Arial"/>
            </a:endParaRPr>
          </a:p>
        </p:txBody>
      </p:sp>
      <p:sp>
        <p:nvSpPr>
          <p:cNvPr id="154" name="Text 9"/>
          <p:cNvSpPr/>
          <p:nvPr/>
        </p:nvSpPr>
        <p:spPr>
          <a:xfrm>
            <a:off x="548640" y="272484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6. </a:t>
            </a:r>
            <a:r>
              <a:rPr lang="en-US" sz="1000" b="0" u="none" strike="noStrike">
                <a:solidFill>
                  <a:srgbClr val="1E293B"/>
                </a:solidFill>
                <a:effectLst/>
                <a:uFillTx/>
                <a:latin typeface="Calibri"/>
                <a:ea typeface="Calibri"/>
              </a:rPr>
              <a:t>Fix team name typos:</a:t>
            </a:r>
            <a:endParaRPr lang="en-US" sz="1000" b="0" u="none" strike="noStrike">
              <a:solidFill>
                <a:srgbClr val="000000"/>
              </a:solidFill>
              <a:effectLst/>
              <a:uFillTx/>
              <a:latin typeface="Arial"/>
            </a:endParaRPr>
          </a:p>
        </p:txBody>
      </p:sp>
      <p:sp>
        <p:nvSpPr>
          <p:cNvPr id="155" name="Text 10"/>
          <p:cNvSpPr/>
          <p:nvPr/>
        </p:nvSpPr>
        <p:spPr>
          <a:xfrm>
            <a:off x="548640" y="301752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64748B"/>
                </a:solidFill>
                <a:effectLst/>
                <a:uFillTx/>
                <a:latin typeface="Calibri"/>
                <a:ea typeface="Calibri"/>
              </a:rPr>
              <a:t>  China PR → China | FR Yugoslavia → Serbia</a:t>
            </a:r>
            <a:endParaRPr lang="en-US" sz="1000" b="0" u="none" strike="noStrike">
              <a:solidFill>
                <a:srgbClr val="000000"/>
              </a:solidFill>
              <a:effectLst/>
              <a:uFillTx/>
              <a:latin typeface="Arial"/>
            </a:endParaRPr>
          </a:p>
        </p:txBody>
      </p:sp>
      <p:sp>
        <p:nvSpPr>
          <p:cNvPr id="156" name="Text 11"/>
          <p:cNvSpPr/>
          <p:nvPr/>
        </p:nvSpPr>
        <p:spPr>
          <a:xfrm>
            <a:off x="548640" y="331020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64748B"/>
                </a:solidFill>
                <a:effectLst/>
                <a:uFillTx/>
                <a:latin typeface="Calibri"/>
                <a:ea typeface="Calibri"/>
              </a:rPr>
              <a:t>  Portagul → Portugal | Columbia → Colombia</a:t>
            </a:r>
            <a:endParaRPr lang="en-US" sz="1000" b="0" u="none" strike="noStrike">
              <a:solidFill>
                <a:srgbClr val="000000"/>
              </a:solidFill>
              <a:effectLst/>
              <a:uFillTx/>
              <a:latin typeface="Arial"/>
            </a:endParaRPr>
          </a:p>
        </p:txBody>
      </p:sp>
      <p:sp>
        <p:nvSpPr>
          <p:cNvPr id="157" name="Text 12"/>
          <p:cNvSpPr/>
          <p:nvPr/>
        </p:nvSpPr>
        <p:spPr>
          <a:xfrm>
            <a:off x="548640" y="360288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7. </a:t>
            </a:r>
            <a:r>
              <a:rPr lang="en-US" sz="1000" b="0" u="none" strike="noStrike">
                <a:solidFill>
                  <a:srgbClr val="1E293B"/>
                </a:solidFill>
                <a:effectLst/>
                <a:uFillTx/>
                <a:latin typeface="Calibri"/>
                <a:ea typeface="Calibri"/>
              </a:rPr>
              <a:t>Flag: MISSING_YEAR, MISSING_DATE</a:t>
            </a:r>
            <a:endParaRPr lang="en-US" sz="1000" b="0" u="none" strike="noStrike">
              <a:solidFill>
                <a:srgbClr val="000000"/>
              </a:solidFill>
              <a:effectLst/>
              <a:uFillTx/>
              <a:latin typeface="Arial"/>
            </a:endParaRPr>
          </a:p>
        </p:txBody>
      </p:sp>
      <p:sp>
        <p:nvSpPr>
          <p:cNvPr id="158" name="Text 13"/>
          <p:cNvSpPr/>
          <p:nvPr/>
        </p:nvSpPr>
        <p:spPr>
          <a:xfrm>
            <a:off x="548640" y="3895200"/>
            <a:ext cx="379404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8. </a:t>
            </a:r>
            <a:r>
              <a:rPr lang="en-US" sz="1000" b="0" u="none" strike="noStrike">
                <a:solidFill>
                  <a:srgbClr val="1E293B"/>
                </a:solidFill>
                <a:effectLst/>
                <a:uFillTx/>
                <a:latin typeface="Calibri"/>
                <a:ea typeface="Calibri"/>
              </a:rPr>
              <a:t>Select final columns &amp; save silver_wc_output.csv</a:t>
            </a:r>
            <a:endParaRPr lang="en-US" sz="1000" b="0" u="none" strike="noStrike">
              <a:solidFill>
                <a:srgbClr val="000000"/>
              </a:solidFill>
              <a:effectLst/>
              <a:uFillTx/>
              <a:latin typeface="Arial"/>
            </a:endParaRPr>
          </a:p>
        </p:txBody>
      </p:sp>
      <p:sp>
        <p:nvSpPr>
          <p:cNvPr id="159" name="Text 14"/>
          <p:cNvSpPr/>
          <p:nvPr/>
        </p:nvSpPr>
        <p:spPr>
          <a:xfrm>
            <a:off x="502920" y="4617720"/>
            <a:ext cx="3839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i="1" u="none" strike="noStrike">
                <a:solidFill>
                  <a:srgbClr val="64748B"/>
                </a:solidFill>
                <a:effectLst/>
                <a:uFillTx/>
                <a:latin typeface="Calibri"/>
                <a:ea typeface="Calibri"/>
              </a:rPr>
              <a:t>Output: data/silver/silver_wc_output.csv  (~384 rows)</a:t>
            </a:r>
            <a:endParaRPr lang="en-US" sz="900" b="0" u="none" strike="noStrike">
              <a:solidFill>
                <a:srgbClr val="000000"/>
              </a:solidFill>
              <a:effectLst/>
              <a:uFillTx/>
              <a:latin typeface="Arial"/>
            </a:endParaRPr>
          </a:p>
        </p:txBody>
      </p:sp>
      <p:sp>
        <p:nvSpPr>
          <p:cNvPr id="160" name="Shape 15"/>
          <p:cNvSpPr/>
          <p:nvPr/>
        </p:nvSpPr>
        <p:spPr>
          <a:xfrm>
            <a:off x="4663440" y="749880"/>
            <a:ext cx="4114080" cy="4205520"/>
          </a:xfrm>
          <a:prstGeom prst="roundRect">
            <a:avLst>
              <a:gd name="adj" fmla="val 2222"/>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Shape 16"/>
          <p:cNvSpPr/>
          <p:nvPr/>
        </p:nvSpPr>
        <p:spPr>
          <a:xfrm>
            <a:off x="4800600" y="777240"/>
            <a:ext cx="3839760" cy="365040"/>
          </a:xfrm>
          <a:prstGeom prst="roundRect">
            <a:avLst>
              <a:gd name="adj" fmla="val 20000"/>
            </a:avLst>
          </a:prstGeom>
          <a:solidFill>
            <a:srgbClr val="0F766E"/>
          </a:solidFill>
          <a:ln w="12700">
            <a:solidFill>
              <a:srgbClr val="0F7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2" name="Text 17"/>
          <p:cNvSpPr/>
          <p:nvPr/>
        </p:nvSpPr>
        <p:spPr>
          <a:xfrm>
            <a:off x="4800600" y="777240"/>
            <a:ext cx="383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silver_population_gdp.ipynb</a:t>
            </a:r>
            <a:endParaRPr lang="en-US" sz="1100" b="0" u="none" strike="noStrike">
              <a:solidFill>
                <a:srgbClr val="000000"/>
              </a:solidFill>
              <a:effectLst/>
              <a:uFillTx/>
              <a:latin typeface="Arial"/>
            </a:endParaRPr>
          </a:p>
        </p:txBody>
      </p:sp>
      <p:sp>
        <p:nvSpPr>
          <p:cNvPr id="163" name="Text 18"/>
          <p:cNvSpPr/>
          <p:nvPr/>
        </p:nvSpPr>
        <p:spPr>
          <a:xfrm>
            <a:off x="4846320" y="126180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1. </a:t>
            </a:r>
            <a:r>
              <a:rPr lang="en-US" sz="1000" b="0" u="none" strike="noStrike">
                <a:solidFill>
                  <a:srgbClr val="1E293B"/>
                </a:solidFill>
                <a:effectLst/>
                <a:uFillTx/>
                <a:latin typeface="Calibri"/>
                <a:ea typeface="Calibri"/>
              </a:rPr>
              <a:t>Load bronze_pop.csv + bronze_gdp.csv (skiprows=4)</a:t>
            </a:r>
            <a:endParaRPr lang="en-US" sz="1000" b="0" u="none" strike="noStrike">
              <a:solidFill>
                <a:srgbClr val="000000"/>
              </a:solidFill>
              <a:effectLst/>
              <a:uFillTx/>
              <a:latin typeface="Arial"/>
            </a:endParaRPr>
          </a:p>
        </p:txBody>
      </p:sp>
      <p:sp>
        <p:nvSpPr>
          <p:cNvPr id="164" name="Text 19"/>
          <p:cNvSpPr/>
          <p:nvPr/>
        </p:nvSpPr>
        <p:spPr>
          <a:xfrm>
            <a:off x="4846320" y="160920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2. </a:t>
            </a:r>
            <a:r>
              <a:rPr lang="en-US" sz="1000" b="0" u="none" strike="noStrike">
                <a:solidFill>
                  <a:srgbClr val="1E293B"/>
                </a:solidFill>
                <a:effectLst/>
                <a:uFillTx/>
                <a:latin typeface="Calibri"/>
                <a:ea typeface="Calibri"/>
              </a:rPr>
              <a:t>Unpivot wide→long (year columns become rows)</a:t>
            </a:r>
            <a:endParaRPr lang="en-US" sz="1000" b="0" u="none" strike="noStrike">
              <a:solidFill>
                <a:srgbClr val="000000"/>
              </a:solidFill>
              <a:effectLst/>
              <a:uFillTx/>
              <a:latin typeface="Arial"/>
            </a:endParaRPr>
          </a:p>
        </p:txBody>
      </p:sp>
      <p:sp>
        <p:nvSpPr>
          <p:cNvPr id="165" name="Text 20"/>
          <p:cNvSpPr/>
          <p:nvPr/>
        </p:nvSpPr>
        <p:spPr>
          <a:xfrm>
            <a:off x="4846320" y="195696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3. </a:t>
            </a:r>
            <a:r>
              <a:rPr lang="en-US" sz="1000" b="0" u="none" strike="noStrike">
                <a:solidFill>
                  <a:srgbClr val="1E293B"/>
                </a:solidFill>
                <a:effectLst/>
                <a:uFillTx/>
                <a:latin typeface="Calibri"/>
                <a:ea typeface="Calibri"/>
              </a:rPr>
              <a:t>Left-join Population + GDP on Country Name + year</a:t>
            </a:r>
            <a:endParaRPr lang="en-US" sz="1000" b="0" u="none" strike="noStrike">
              <a:solidFill>
                <a:srgbClr val="000000"/>
              </a:solidFill>
              <a:effectLst/>
              <a:uFillTx/>
              <a:latin typeface="Arial"/>
            </a:endParaRPr>
          </a:p>
        </p:txBody>
      </p:sp>
      <p:sp>
        <p:nvSpPr>
          <p:cNvPr id="166" name="Text 21"/>
          <p:cNvSpPr/>
          <p:nvPr/>
        </p:nvSpPr>
        <p:spPr>
          <a:xfrm>
            <a:off x="4846320" y="230436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4. </a:t>
            </a:r>
            <a:r>
              <a:rPr lang="en-US" sz="1000" b="0" u="none" strike="noStrike">
                <a:solidFill>
                  <a:srgbClr val="1E293B"/>
                </a:solidFill>
                <a:effectLst/>
                <a:uFillTx/>
                <a:latin typeface="Calibri"/>
                <a:ea typeface="Calibri"/>
              </a:rPr>
              <a:t>Remove 15 World Bank aggregates (WLD, EUU, HIC...)</a:t>
            </a:r>
            <a:endParaRPr lang="en-US" sz="1000" b="0" u="none" strike="noStrike">
              <a:solidFill>
                <a:srgbClr val="000000"/>
              </a:solidFill>
              <a:effectLst/>
              <a:uFillTx/>
              <a:latin typeface="Arial"/>
            </a:endParaRPr>
          </a:p>
        </p:txBody>
      </p:sp>
      <p:sp>
        <p:nvSpPr>
          <p:cNvPr id="167" name="Text 22"/>
          <p:cNvSpPr/>
          <p:nvPr/>
        </p:nvSpPr>
        <p:spPr>
          <a:xfrm>
            <a:off x="4846320" y="265176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5. </a:t>
            </a:r>
            <a:r>
              <a:rPr lang="en-US" sz="1000" b="0" u="none" strike="noStrike">
                <a:solidFill>
                  <a:srgbClr val="1E293B"/>
                </a:solidFill>
                <a:effectLst/>
                <a:uFillTx/>
                <a:latin typeface="Calibri"/>
                <a:ea typeface="Calibri"/>
              </a:rPr>
              <a:t>Filter: keep 1998–2018 only</a:t>
            </a:r>
            <a:endParaRPr lang="en-US" sz="1000" b="0" u="none" strike="noStrike">
              <a:solidFill>
                <a:srgbClr val="000000"/>
              </a:solidFill>
              <a:effectLst/>
              <a:uFillTx/>
              <a:latin typeface="Arial"/>
            </a:endParaRPr>
          </a:p>
        </p:txBody>
      </p:sp>
      <p:sp>
        <p:nvSpPr>
          <p:cNvPr id="168" name="Text 23"/>
          <p:cNvSpPr/>
          <p:nvPr/>
        </p:nvSpPr>
        <p:spPr>
          <a:xfrm>
            <a:off x="4846320" y="299916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6. </a:t>
            </a:r>
            <a:r>
              <a:rPr lang="en-US" sz="1000" b="0" u="none" strike="noStrike">
                <a:solidFill>
                  <a:srgbClr val="1E293B"/>
                </a:solidFill>
                <a:effectLst/>
                <a:uFillTx/>
                <a:latin typeface="Calibri"/>
                <a:ea typeface="Calibri"/>
              </a:rPr>
              <a:t>Apply country_mapping.json (60 entries, case-insensitive)</a:t>
            </a:r>
            <a:endParaRPr lang="en-US" sz="1000" b="0" u="none" strike="noStrike">
              <a:solidFill>
                <a:srgbClr val="000000"/>
              </a:solidFill>
              <a:effectLst/>
              <a:uFillTx/>
              <a:latin typeface="Arial"/>
            </a:endParaRPr>
          </a:p>
        </p:txBody>
      </p:sp>
      <p:sp>
        <p:nvSpPr>
          <p:cNvPr id="169" name="Text 24"/>
          <p:cNvSpPr/>
          <p:nvPr/>
        </p:nvSpPr>
        <p:spPr>
          <a:xfrm>
            <a:off x="4846320" y="334656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7. </a:t>
            </a:r>
            <a:r>
              <a:rPr lang="en-US" sz="1000" b="0" u="none" strike="noStrike">
                <a:solidFill>
                  <a:srgbClr val="1E293B"/>
                </a:solidFill>
                <a:effectLst/>
                <a:uFillTx/>
                <a:latin typeface="Calibri"/>
                <a:ea typeface="Calibri"/>
              </a:rPr>
              <a:t>UK split → 4 nations (ONS census shares)</a:t>
            </a:r>
            <a:endParaRPr lang="en-US" sz="1000" b="0" u="none" strike="noStrike">
              <a:solidFill>
                <a:srgbClr val="000000"/>
              </a:solidFill>
              <a:effectLst/>
              <a:uFillTx/>
              <a:latin typeface="Arial"/>
            </a:endParaRPr>
          </a:p>
        </p:txBody>
      </p:sp>
      <p:sp>
        <p:nvSpPr>
          <p:cNvPr id="170" name="Text 25"/>
          <p:cNvSpPr/>
          <p:nvPr/>
        </p:nvSpPr>
        <p:spPr>
          <a:xfrm>
            <a:off x="4846320" y="369432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8. </a:t>
            </a:r>
            <a:r>
              <a:rPr lang="en-US" sz="1000" b="0" u="none" strike="noStrike">
                <a:solidFill>
                  <a:srgbClr val="1E293B"/>
                </a:solidFill>
                <a:effectLst/>
                <a:uFillTx/>
                <a:latin typeface="Calibri"/>
                <a:ea typeface="Calibri"/>
              </a:rPr>
              <a:t>Quality rules → valid + rejected files</a:t>
            </a:r>
            <a:endParaRPr lang="en-US" sz="1000" b="0" u="none" strike="noStrike">
              <a:solidFill>
                <a:srgbClr val="000000"/>
              </a:solidFill>
              <a:effectLst/>
              <a:uFillTx/>
              <a:latin typeface="Arial"/>
            </a:endParaRPr>
          </a:p>
        </p:txBody>
      </p:sp>
      <p:sp>
        <p:nvSpPr>
          <p:cNvPr id="171" name="Text 26"/>
          <p:cNvSpPr/>
          <p:nvPr/>
        </p:nvSpPr>
        <p:spPr>
          <a:xfrm>
            <a:off x="4846320" y="4041720"/>
            <a:ext cx="3794040" cy="310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F766E"/>
                </a:solidFill>
                <a:effectLst/>
                <a:uFillTx/>
                <a:latin typeface="Calibri"/>
                <a:ea typeface="Calibri"/>
              </a:rPr>
              <a:t>9. </a:t>
            </a:r>
            <a:r>
              <a:rPr lang="en-US" sz="1000" b="0" u="none" strike="noStrike">
                <a:solidFill>
                  <a:srgbClr val="1E293B"/>
                </a:solidFill>
                <a:effectLst/>
                <a:uFillTx/>
                <a:latin typeface="Calibri"/>
                <a:ea typeface="Calibri"/>
              </a:rPr>
              <a:t>Save validation_summary.txt (row count audit trail)</a:t>
            </a:r>
            <a:endParaRPr lang="en-US" sz="1000" b="0" u="none" strike="noStrike">
              <a:solidFill>
                <a:srgbClr val="000000"/>
              </a:solidFill>
              <a:effectLst/>
              <a:uFillTx/>
              <a:latin typeface="Arial"/>
            </a:endParaRPr>
          </a:p>
        </p:txBody>
      </p:sp>
      <p:sp>
        <p:nvSpPr>
          <p:cNvPr id="172" name="Text 27"/>
          <p:cNvSpPr/>
          <p:nvPr/>
        </p:nvSpPr>
        <p:spPr>
          <a:xfrm>
            <a:off x="4800600" y="4617720"/>
            <a:ext cx="383976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i="1" u="none" strike="noStrike">
                <a:solidFill>
                  <a:srgbClr val="64748B"/>
                </a:solidFill>
                <a:effectLst/>
                <a:uFillTx/>
                <a:latin typeface="Calibri"/>
                <a:ea typeface="Calibri"/>
              </a:rPr>
              <a:t>Output: valid_socioeconomics.csv  |  rejected/rejected_socioeconomics.csv</a:t>
            </a:r>
            <a:endParaRPr lang="en-US" sz="9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173" name="Text 0"/>
          <p:cNvSpPr/>
          <p:nvPr/>
        </p:nvSpPr>
        <p:spPr>
          <a:xfrm>
            <a:off x="457200" y="16452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Data Quality &amp; Quarantine Pattern</a:t>
            </a:r>
            <a:endParaRPr lang="en-US" sz="2600" b="0" u="none" strike="noStrike">
              <a:solidFill>
                <a:srgbClr val="000000"/>
              </a:solidFill>
              <a:effectLst/>
              <a:uFillTx/>
              <a:latin typeface="Arial"/>
            </a:endParaRPr>
          </a:p>
        </p:txBody>
      </p:sp>
      <p:sp>
        <p:nvSpPr>
          <p:cNvPr id="174" name="Shape 1"/>
          <p:cNvSpPr/>
          <p:nvPr/>
        </p:nvSpPr>
        <p:spPr>
          <a:xfrm>
            <a:off x="365760" y="749880"/>
            <a:ext cx="3839760" cy="1873800"/>
          </a:xfrm>
          <a:prstGeom prst="roundRect">
            <a:avLst>
              <a:gd name="adj" fmla="val 4878"/>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5" name="Text 2"/>
          <p:cNvSpPr/>
          <p:nvPr/>
        </p:nvSpPr>
        <p:spPr>
          <a:xfrm>
            <a:off x="530280" y="80460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Quarantine Pattern</a:t>
            </a:r>
            <a:endParaRPr lang="en-US" sz="1100" b="0" u="none" strike="noStrike">
              <a:solidFill>
                <a:srgbClr val="000000"/>
              </a:solidFill>
              <a:effectLst/>
              <a:uFillTx/>
              <a:latin typeface="Arial"/>
            </a:endParaRPr>
          </a:p>
        </p:txBody>
      </p:sp>
      <p:sp>
        <p:nvSpPr>
          <p:cNvPr id="176" name="Shape 3"/>
          <p:cNvSpPr/>
          <p:nvPr/>
        </p:nvSpPr>
        <p:spPr>
          <a:xfrm>
            <a:off x="685800" y="1170360"/>
            <a:ext cx="1416600" cy="401760"/>
          </a:xfrm>
          <a:prstGeom prst="roundRect">
            <a:avLst>
              <a:gd name="adj" fmla="val 18182"/>
            </a:avLst>
          </a:prstGeom>
          <a:solidFill>
            <a:srgbClr val="92400E"/>
          </a:solidFill>
          <a:ln w="12700">
            <a:solidFill>
              <a:srgbClr val="92400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7" name="Text 4"/>
          <p:cNvSpPr/>
          <p:nvPr/>
        </p:nvSpPr>
        <p:spPr>
          <a:xfrm>
            <a:off x="685800" y="1170360"/>
            <a:ext cx="1416600" cy="40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FFFFFF"/>
                </a:solidFill>
                <a:effectLst/>
                <a:uFillTx/>
                <a:latin typeface="Calibri"/>
                <a:ea typeface="Calibri"/>
              </a:rPr>
              <a:t>Bronze (raw)</a:t>
            </a:r>
            <a:endParaRPr lang="en-US" sz="950" b="0" u="none" strike="noStrike">
              <a:solidFill>
                <a:srgbClr val="000000"/>
              </a:solidFill>
              <a:effectLst/>
              <a:uFillTx/>
              <a:latin typeface="Arial"/>
            </a:endParaRPr>
          </a:p>
        </p:txBody>
      </p:sp>
      <p:sp>
        <p:nvSpPr>
          <p:cNvPr id="178" name="Shape 5"/>
          <p:cNvSpPr/>
          <p:nvPr/>
        </p:nvSpPr>
        <p:spPr>
          <a:xfrm>
            <a:off x="1394280" y="1572480"/>
            <a:ext cx="360" cy="219600"/>
          </a:xfrm>
          <a:prstGeom prst="line">
            <a:avLst/>
          </a:prstGeom>
          <a:ln w="19050">
            <a:solidFill>
              <a:srgbClr val="64748B"/>
            </a:solidFill>
            <a:round/>
            <a:tailEnd type="arrow" w="med" len="med"/>
          </a:ln>
        </p:spPr>
        <p:style>
          <a:lnRef idx="0">
            <a:scrgbClr r="0" g="0" b="0"/>
          </a:lnRef>
          <a:fillRef idx="0">
            <a:scrgbClr r="0" g="0" b="0"/>
          </a:fillRef>
          <a:effectRef idx="0">
            <a:scrgbClr r="0" g="0" b="0"/>
          </a:effectRef>
          <a:fontRef idx="minor"/>
        </p:style>
        <p:txBody>
          <a:bodyPr lIns="0" tIns="45000" rIns="0" bIns="45000" anchor="t" anchorCtr="1">
            <a:noAutofit/>
          </a:bodyPr>
          <a:lstStyle/>
          <a:p>
            <a:endParaRPr lang="en-US" sz="1800" b="0" u="none" strike="noStrike">
              <a:solidFill>
                <a:srgbClr val="000000"/>
              </a:solidFill>
              <a:effectLst/>
              <a:uFillTx/>
              <a:latin typeface="Arial"/>
            </a:endParaRPr>
          </a:p>
        </p:txBody>
      </p:sp>
      <p:sp>
        <p:nvSpPr>
          <p:cNvPr id="179" name="Shape 6"/>
          <p:cNvSpPr/>
          <p:nvPr/>
        </p:nvSpPr>
        <p:spPr>
          <a:xfrm>
            <a:off x="685800" y="1792080"/>
            <a:ext cx="1416600" cy="401760"/>
          </a:xfrm>
          <a:prstGeom prst="roundRect">
            <a:avLst>
              <a:gd name="adj" fmla="val 18182"/>
            </a:avLst>
          </a:prstGeom>
          <a:solidFill>
            <a:srgbClr val="0F766E"/>
          </a:solidFill>
          <a:ln w="12700">
            <a:solidFill>
              <a:srgbClr val="0F76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0" name="Text 7"/>
          <p:cNvSpPr/>
          <p:nvPr/>
        </p:nvSpPr>
        <p:spPr>
          <a:xfrm>
            <a:off x="685800" y="1792080"/>
            <a:ext cx="1416600" cy="40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50" b="1" u="none" strike="noStrike">
                <a:solidFill>
                  <a:srgbClr val="FFFFFF"/>
                </a:solidFill>
                <a:effectLst/>
                <a:uFillTx/>
                <a:latin typeface="Calibri"/>
                <a:ea typeface="Calibri"/>
              </a:rPr>
              <a:t>Silver (quality checks)</a:t>
            </a:r>
            <a:endParaRPr lang="en-US" sz="850" b="0" u="none" strike="noStrike">
              <a:solidFill>
                <a:srgbClr val="000000"/>
              </a:solidFill>
              <a:effectLst/>
              <a:uFillTx/>
              <a:latin typeface="Arial"/>
            </a:endParaRPr>
          </a:p>
        </p:txBody>
      </p:sp>
      <p:sp>
        <p:nvSpPr>
          <p:cNvPr id="181" name="Shape 8"/>
          <p:cNvSpPr/>
          <p:nvPr/>
        </p:nvSpPr>
        <p:spPr>
          <a:xfrm>
            <a:off x="2103120" y="1993320"/>
            <a:ext cx="475200" cy="255960"/>
          </a:xfrm>
          <a:prstGeom prst="line">
            <a:avLst/>
          </a:prstGeom>
          <a:ln w="19050">
            <a:solidFill>
              <a:srgbClr val="16A34A"/>
            </a:solidFill>
            <a:round/>
            <a:tailEnd type="arrow"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82" name="Text 9"/>
          <p:cNvSpPr/>
          <p:nvPr/>
        </p:nvSpPr>
        <p:spPr>
          <a:xfrm>
            <a:off x="2597040" y="2148840"/>
            <a:ext cx="10508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16A34A"/>
                </a:solidFill>
                <a:effectLst/>
                <a:uFillTx/>
                <a:latin typeface="Calibri"/>
                <a:ea typeface="Calibri"/>
              </a:rPr>
              <a:t>valid_*.csv</a:t>
            </a:r>
            <a:endParaRPr lang="en-US" sz="900" b="0" u="none" strike="noStrike">
              <a:solidFill>
                <a:srgbClr val="000000"/>
              </a:solidFill>
              <a:effectLst/>
              <a:uFillTx/>
              <a:latin typeface="Arial"/>
            </a:endParaRPr>
          </a:p>
        </p:txBody>
      </p:sp>
      <p:sp>
        <p:nvSpPr>
          <p:cNvPr id="183" name="Shape 10"/>
          <p:cNvSpPr/>
          <p:nvPr/>
        </p:nvSpPr>
        <p:spPr>
          <a:xfrm flipV="1">
            <a:off x="2103120" y="1810440"/>
            <a:ext cx="475200" cy="182880"/>
          </a:xfrm>
          <a:prstGeom prst="line">
            <a:avLst/>
          </a:prstGeom>
          <a:ln w="19050">
            <a:solidFill>
              <a:srgbClr val="DC2626"/>
            </a:solidFill>
            <a:round/>
            <a:tailEnd type="arrow"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84" name="Text 11"/>
          <p:cNvSpPr/>
          <p:nvPr/>
        </p:nvSpPr>
        <p:spPr>
          <a:xfrm>
            <a:off x="2597040" y="1664280"/>
            <a:ext cx="1096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a:solidFill>
                  <a:srgbClr val="DC2626"/>
                </a:solidFill>
                <a:effectLst/>
                <a:uFillTx/>
                <a:latin typeface="Calibri"/>
                <a:ea typeface="Calibri"/>
              </a:rPr>
              <a:t>rejected_*.csv</a:t>
            </a:r>
            <a:endParaRPr lang="en-US" sz="900" b="0" u="none" strike="noStrike">
              <a:solidFill>
                <a:srgbClr val="000000"/>
              </a:solidFill>
              <a:effectLst/>
              <a:uFillTx/>
              <a:latin typeface="Arial"/>
            </a:endParaRPr>
          </a:p>
        </p:txBody>
      </p:sp>
      <p:sp>
        <p:nvSpPr>
          <p:cNvPr id="185" name="Shape 12"/>
          <p:cNvSpPr/>
          <p:nvPr/>
        </p:nvSpPr>
        <p:spPr>
          <a:xfrm>
            <a:off x="365760" y="2724840"/>
            <a:ext cx="3839760" cy="2193840"/>
          </a:xfrm>
          <a:prstGeom prst="roundRect">
            <a:avLst>
              <a:gd name="adj" fmla="val 4167"/>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Text 13"/>
          <p:cNvSpPr/>
          <p:nvPr/>
        </p:nvSpPr>
        <p:spPr>
          <a:xfrm>
            <a:off x="530280" y="278892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review_reason Rules (priority order — first match wins)</a:t>
            </a:r>
            <a:endParaRPr lang="en-US" sz="1000" b="0" u="none" strike="noStrike">
              <a:solidFill>
                <a:srgbClr val="000000"/>
              </a:solidFill>
              <a:effectLst/>
              <a:uFillTx/>
              <a:latin typeface="Arial"/>
            </a:endParaRPr>
          </a:p>
        </p:txBody>
      </p:sp>
      <p:sp>
        <p:nvSpPr>
          <p:cNvPr id="187" name="Text 14"/>
          <p:cNvSpPr/>
          <p:nvPr/>
        </p:nvSpPr>
        <p:spPr>
          <a:xfrm>
            <a:off x="530280" y="312732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P1 </a:t>
            </a:r>
            <a:r>
              <a:rPr lang="en-US" sz="1000" b="1" u="none" strike="noStrike">
                <a:solidFill>
                  <a:srgbClr val="1E293B"/>
                </a:solidFill>
                <a:effectLst/>
                <a:uFillTx/>
                <a:latin typeface="Calibri"/>
                <a:ea typeface="Calibri"/>
              </a:rPr>
              <a:t>MISSING_COUNTRY_NAME </a:t>
            </a:r>
            <a:r>
              <a:rPr lang="en-US" sz="1000" b="0" u="none" strike="noStrike">
                <a:solidFill>
                  <a:srgbClr val="64748B"/>
                </a:solidFill>
                <a:effectLst/>
                <a:uFillTx/>
                <a:latin typeface="Calibri"/>
                <a:ea typeface="Calibri"/>
              </a:rPr>
              <a:t>→ country_name is null</a:t>
            </a:r>
            <a:endParaRPr lang="en-US" sz="1000" b="0" u="none" strike="noStrike">
              <a:solidFill>
                <a:srgbClr val="000000"/>
              </a:solidFill>
              <a:effectLst/>
              <a:uFillTx/>
              <a:latin typeface="Arial"/>
            </a:endParaRPr>
          </a:p>
        </p:txBody>
      </p:sp>
      <p:sp>
        <p:nvSpPr>
          <p:cNvPr id="188" name="Text 15"/>
          <p:cNvSpPr/>
          <p:nvPr/>
        </p:nvSpPr>
        <p:spPr>
          <a:xfrm>
            <a:off x="530280" y="342000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P2 </a:t>
            </a:r>
            <a:r>
              <a:rPr lang="en-US" sz="1000" b="1" u="none" strike="noStrike">
                <a:solidFill>
                  <a:srgbClr val="1E293B"/>
                </a:solidFill>
                <a:effectLst/>
                <a:uFillTx/>
                <a:latin typeface="Calibri"/>
                <a:ea typeface="Calibri"/>
              </a:rPr>
              <a:t>MISSING_COUNTRY_CODE </a:t>
            </a:r>
            <a:r>
              <a:rPr lang="en-US" sz="1000" b="0" u="none" strike="noStrike">
                <a:solidFill>
                  <a:srgbClr val="64748B"/>
                </a:solidFill>
                <a:effectLst/>
                <a:uFillTx/>
                <a:latin typeface="Calibri"/>
                <a:ea typeface="Calibri"/>
              </a:rPr>
              <a:t>→ country_code is null</a:t>
            </a:r>
            <a:endParaRPr lang="en-US" sz="1000" b="0" u="none" strike="noStrike">
              <a:solidFill>
                <a:srgbClr val="000000"/>
              </a:solidFill>
              <a:effectLst/>
              <a:uFillTx/>
              <a:latin typeface="Arial"/>
            </a:endParaRPr>
          </a:p>
        </p:txBody>
      </p:sp>
      <p:sp>
        <p:nvSpPr>
          <p:cNvPr id="189" name="Text 16"/>
          <p:cNvSpPr/>
          <p:nvPr/>
        </p:nvSpPr>
        <p:spPr>
          <a:xfrm>
            <a:off x="530280" y="371232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P3 </a:t>
            </a:r>
            <a:r>
              <a:rPr lang="en-US" sz="1000" b="1" u="none" strike="noStrike">
                <a:solidFill>
                  <a:srgbClr val="1E293B"/>
                </a:solidFill>
                <a:effectLst/>
                <a:uFillTx/>
                <a:latin typeface="Calibri"/>
                <a:ea typeface="Calibri"/>
              </a:rPr>
              <a:t>MISSING_POPULATION </a:t>
            </a:r>
            <a:r>
              <a:rPr lang="en-US" sz="1000" b="0" u="none" strike="noStrike">
                <a:solidFill>
                  <a:srgbClr val="64748B"/>
                </a:solidFill>
                <a:effectLst/>
                <a:uFillTx/>
                <a:latin typeface="Calibri"/>
                <a:ea typeface="Calibri"/>
              </a:rPr>
              <a:t>→ population is null</a:t>
            </a:r>
            <a:endParaRPr lang="en-US" sz="1000" b="0" u="none" strike="noStrike">
              <a:solidFill>
                <a:srgbClr val="000000"/>
              </a:solidFill>
              <a:effectLst/>
              <a:uFillTx/>
              <a:latin typeface="Arial"/>
            </a:endParaRPr>
          </a:p>
        </p:txBody>
      </p:sp>
      <p:sp>
        <p:nvSpPr>
          <p:cNvPr id="190" name="Text 17"/>
          <p:cNvSpPr/>
          <p:nvPr/>
        </p:nvSpPr>
        <p:spPr>
          <a:xfrm>
            <a:off x="530280" y="400500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P4 </a:t>
            </a:r>
            <a:r>
              <a:rPr lang="en-US" sz="1000" b="1" u="none" strike="noStrike">
                <a:solidFill>
                  <a:srgbClr val="1E293B"/>
                </a:solidFill>
                <a:effectLst/>
                <a:uFillTx/>
                <a:latin typeface="Calibri"/>
                <a:ea typeface="Calibri"/>
              </a:rPr>
              <a:t>MISSING_GDP </a:t>
            </a:r>
            <a:r>
              <a:rPr lang="en-US" sz="1000" b="0" u="none" strike="noStrike">
                <a:solidFill>
                  <a:srgbClr val="64748B"/>
                </a:solidFill>
                <a:effectLst/>
                <a:uFillTx/>
                <a:latin typeface="Calibri"/>
                <a:ea typeface="Calibri"/>
              </a:rPr>
              <a:t>→ gdp_per_capita_usd is null</a:t>
            </a:r>
            <a:endParaRPr lang="en-US" sz="1000" b="0" u="none" strike="noStrike">
              <a:solidFill>
                <a:srgbClr val="000000"/>
              </a:solidFill>
              <a:effectLst/>
              <a:uFillTx/>
              <a:latin typeface="Arial"/>
            </a:endParaRPr>
          </a:p>
        </p:txBody>
      </p:sp>
      <p:sp>
        <p:nvSpPr>
          <p:cNvPr id="191" name="Text 18"/>
          <p:cNvSpPr/>
          <p:nvPr/>
        </p:nvSpPr>
        <p:spPr>
          <a:xfrm>
            <a:off x="530280" y="429768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P5 </a:t>
            </a:r>
            <a:r>
              <a:rPr lang="en-US" sz="1000" b="1" u="none" strike="noStrike">
                <a:solidFill>
                  <a:srgbClr val="1E293B"/>
                </a:solidFill>
                <a:effectLst/>
                <a:uFillTx/>
                <a:latin typeface="Calibri"/>
                <a:ea typeface="Calibri"/>
              </a:rPr>
              <a:t>INVALID_POPULATION </a:t>
            </a:r>
            <a:r>
              <a:rPr lang="en-US" sz="1000" b="0" u="none" strike="noStrike">
                <a:solidFill>
                  <a:srgbClr val="64748B"/>
                </a:solidFill>
                <a:effectLst/>
                <a:uFillTx/>
                <a:latin typeface="Calibri"/>
                <a:ea typeface="Calibri"/>
              </a:rPr>
              <a:t>→ population &lt; 0</a:t>
            </a:r>
            <a:endParaRPr lang="en-US" sz="1000" b="0" u="none" strike="noStrike">
              <a:solidFill>
                <a:srgbClr val="000000"/>
              </a:solidFill>
              <a:effectLst/>
              <a:uFillTx/>
              <a:latin typeface="Arial"/>
            </a:endParaRPr>
          </a:p>
        </p:txBody>
      </p:sp>
      <p:sp>
        <p:nvSpPr>
          <p:cNvPr id="192" name="Text 19"/>
          <p:cNvSpPr/>
          <p:nvPr/>
        </p:nvSpPr>
        <p:spPr>
          <a:xfrm>
            <a:off x="530280" y="4590360"/>
            <a:ext cx="356544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0D9488"/>
                </a:solidFill>
                <a:effectLst/>
                <a:uFillTx/>
                <a:latin typeface="Calibri"/>
                <a:ea typeface="Calibri"/>
              </a:rPr>
              <a:t>P6 </a:t>
            </a:r>
            <a:r>
              <a:rPr lang="en-US" sz="1000" b="1" u="none" strike="noStrike">
                <a:solidFill>
                  <a:srgbClr val="1E293B"/>
                </a:solidFill>
                <a:effectLst/>
                <a:uFillTx/>
                <a:latin typeface="Calibri"/>
                <a:ea typeface="Calibri"/>
              </a:rPr>
              <a:t>INVALID_GDP </a:t>
            </a:r>
            <a:r>
              <a:rPr lang="en-US" sz="1000" b="0" u="none" strike="noStrike">
                <a:solidFill>
                  <a:srgbClr val="64748B"/>
                </a:solidFill>
                <a:effectLst/>
                <a:uFillTx/>
                <a:latin typeface="Calibri"/>
                <a:ea typeface="Calibri"/>
              </a:rPr>
              <a:t>→ gdp_per_capita_usd &lt; 0</a:t>
            </a:r>
            <a:endParaRPr lang="en-US" sz="1000" b="0" u="none" strike="noStrike">
              <a:solidFill>
                <a:srgbClr val="000000"/>
              </a:solidFill>
              <a:effectLst/>
              <a:uFillTx/>
              <a:latin typeface="Arial"/>
            </a:endParaRPr>
          </a:p>
        </p:txBody>
      </p:sp>
      <p:sp>
        <p:nvSpPr>
          <p:cNvPr id="193" name="Shape 20"/>
          <p:cNvSpPr/>
          <p:nvPr/>
        </p:nvSpPr>
        <p:spPr>
          <a:xfrm>
            <a:off x="4462200" y="749880"/>
            <a:ext cx="4406760" cy="4168800"/>
          </a:xfrm>
          <a:prstGeom prst="roundRect">
            <a:avLst>
              <a:gd name="adj" fmla="val 2193"/>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4" name="Text 21"/>
          <p:cNvSpPr/>
          <p:nvPr/>
        </p:nvSpPr>
        <p:spPr>
          <a:xfrm>
            <a:off x="4617720" y="822960"/>
            <a:ext cx="406836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0D9488"/>
                </a:solidFill>
                <a:effectLst/>
                <a:uFillTx/>
                <a:latin typeface="Calibri"/>
                <a:ea typeface="Calibri"/>
              </a:rPr>
              <a:t>UK Nations Split</a:t>
            </a:r>
            <a:endParaRPr lang="en-US" sz="1200" b="0" u="none" strike="noStrike">
              <a:solidFill>
                <a:srgbClr val="000000"/>
              </a:solidFill>
              <a:effectLst/>
              <a:uFillTx/>
              <a:latin typeface="Arial"/>
            </a:endParaRPr>
          </a:p>
        </p:txBody>
      </p:sp>
      <p:sp>
        <p:nvSpPr>
          <p:cNvPr id="195" name="Text 22"/>
          <p:cNvSpPr/>
          <p:nvPr/>
        </p:nvSpPr>
        <p:spPr>
          <a:xfrm>
            <a:off x="4617720" y="1097280"/>
            <a:ext cx="4068360" cy="438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World Bank has a single 'United Kingdom' row. Split into 4 nations using ONS census population shares (stable 1998–2018):</a:t>
            </a:r>
            <a:endParaRPr lang="en-US" sz="1000" b="0" u="none" strike="noStrike">
              <a:solidFill>
                <a:srgbClr val="000000"/>
              </a:solidFill>
              <a:effectLst/>
              <a:uFillTx/>
              <a:latin typeface="Arial"/>
            </a:endParaRPr>
          </a:p>
        </p:txBody>
      </p:sp>
      <p:graphicFrame>
        <p:nvGraphicFramePr>
          <p:cNvPr id="196" name="Table 0"/>
          <p:cNvGraphicFramePr/>
          <p:nvPr/>
        </p:nvGraphicFramePr>
        <p:xfrm>
          <a:off x="4617720" y="1572840"/>
          <a:ext cx="4068720" cy="1219200"/>
        </p:xfrm>
        <a:graphic>
          <a:graphicData uri="http://schemas.openxmlformats.org/drawingml/2006/table">
            <a:tbl>
              <a:tblPr/>
              <a:tblGrid>
                <a:gridCol w="1325880">
                  <a:extLst>
                    <a:ext uri="{9D8B030D-6E8A-4147-A177-3AD203B41FA5}">
                      <a16:colId xmlns:a16="http://schemas.microsoft.com/office/drawing/2014/main" val="20000"/>
                    </a:ext>
                  </a:extLst>
                </a:gridCol>
                <a:gridCol w="6580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78920">
                  <a:extLst>
                    <a:ext uri="{9D8B030D-6E8A-4147-A177-3AD203B41FA5}">
                      <a16:colId xmlns:a16="http://schemas.microsoft.com/office/drawing/2014/main" val="20003"/>
                    </a:ext>
                  </a:extLst>
                </a:gridCol>
              </a:tblGrid>
              <a:tr h="237600">
                <a:tc>
                  <a:txBody>
                    <a:bodyPr/>
                    <a:lstStyle/>
                    <a:p>
                      <a:pPr algn="ctr" defTabSz="914400">
                        <a:lnSpc>
                          <a:spcPct val="100000"/>
                        </a:lnSpc>
                        <a:tabLst>
                          <a:tab pos="0" algn="l"/>
                        </a:tabLst>
                      </a:pPr>
                      <a:r>
                        <a:rPr lang="en-US" sz="1000" b="1" u="none" strike="noStrike">
                          <a:solidFill>
                            <a:srgbClr val="FFFFFF"/>
                          </a:solidFill>
                          <a:effectLst/>
                          <a:uFillTx/>
                          <a:latin typeface="Calibri"/>
                          <a:ea typeface="Calibri"/>
                        </a:rPr>
                        <a:t>Nation</a:t>
                      </a:r>
                      <a:endParaRPr lang="en-US" sz="1000" b="0" u="none" strike="noStrike">
                        <a:solidFill>
                          <a:srgbClr val="FFFFFF"/>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D9488"/>
                    </a:solidFill>
                  </a:tcPr>
                </a:tc>
                <a:tc>
                  <a:txBody>
                    <a:bodyPr/>
                    <a:lstStyle/>
                    <a:p>
                      <a:pPr algn="ctr" defTabSz="914400">
                        <a:lnSpc>
                          <a:spcPct val="100000"/>
                        </a:lnSpc>
                        <a:tabLst>
                          <a:tab pos="0" algn="l"/>
                        </a:tabLst>
                      </a:pPr>
                      <a:r>
                        <a:rPr lang="en-US" sz="1000" b="1" u="none" strike="noStrike">
                          <a:solidFill>
                            <a:srgbClr val="FFFFFF"/>
                          </a:solidFill>
                          <a:effectLst/>
                          <a:uFillTx/>
                          <a:latin typeface="Calibri"/>
                          <a:ea typeface="Calibri"/>
                        </a:rPr>
                        <a:t>Code</a:t>
                      </a:r>
                      <a:endParaRPr lang="en-US" sz="1000" b="0" u="none" strike="noStrike">
                        <a:solidFill>
                          <a:srgbClr val="FFFFFF"/>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D9488"/>
                    </a:solidFill>
                  </a:tcPr>
                </a:tc>
                <a:tc>
                  <a:txBody>
                    <a:bodyPr/>
                    <a:lstStyle/>
                    <a:p>
                      <a:pPr algn="ctr" defTabSz="914400">
                        <a:lnSpc>
                          <a:spcPct val="100000"/>
                        </a:lnSpc>
                        <a:tabLst>
                          <a:tab pos="0" algn="l"/>
                        </a:tabLst>
                      </a:pPr>
                      <a:r>
                        <a:rPr lang="en-US" sz="1000" b="1" u="none" strike="noStrike">
                          <a:solidFill>
                            <a:srgbClr val="FFFFFF"/>
                          </a:solidFill>
                          <a:effectLst/>
                          <a:uFillTx/>
                          <a:latin typeface="Calibri"/>
                          <a:ea typeface="Calibri"/>
                        </a:rPr>
                        <a:t>Pop. Share</a:t>
                      </a:r>
                      <a:endParaRPr lang="en-US" sz="1000" b="0" u="none" strike="noStrike">
                        <a:solidFill>
                          <a:srgbClr val="FFFFFF"/>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D9488"/>
                    </a:solidFill>
                  </a:tcPr>
                </a:tc>
                <a:tc>
                  <a:txBody>
                    <a:bodyPr/>
                    <a:lstStyle/>
                    <a:p>
                      <a:pPr algn="ctr" defTabSz="914400">
                        <a:lnSpc>
                          <a:spcPct val="100000"/>
                        </a:lnSpc>
                        <a:tabLst>
                          <a:tab pos="0" algn="l"/>
                        </a:tabLst>
                      </a:pPr>
                      <a:r>
                        <a:rPr lang="en-US" sz="1000" b="1" u="none" strike="noStrike">
                          <a:solidFill>
                            <a:srgbClr val="FFFFFF"/>
                          </a:solidFill>
                          <a:effectLst/>
                          <a:uFillTx/>
                          <a:latin typeface="Calibri"/>
                          <a:ea typeface="Calibri"/>
                        </a:rPr>
                        <a:t>GDP/cap</a:t>
                      </a:r>
                      <a:endParaRPr lang="en-US" sz="1000" b="0" u="none" strike="noStrike">
                        <a:solidFill>
                          <a:srgbClr val="FFFFFF"/>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D9488"/>
                    </a:solidFill>
                  </a:tcPr>
                </a:tc>
                <a:extLst>
                  <a:ext uri="{0D108BD9-81ED-4DB2-BD59-A6C34878D82A}">
                    <a16:rowId xmlns:a16="http://schemas.microsoft.com/office/drawing/2014/main" val="10000"/>
                  </a:ext>
                </a:extLst>
              </a:tr>
              <a:tr h="237600">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England</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ENG</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84.0%</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 UK value</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extLst>
                  <a:ext uri="{0D108BD9-81ED-4DB2-BD59-A6C34878D82A}">
                    <a16:rowId xmlns:a16="http://schemas.microsoft.com/office/drawing/2014/main" val="10001"/>
                  </a:ext>
                </a:extLst>
              </a:tr>
              <a:tr h="237600">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Scotland</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SCO</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8.4%</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 UK value</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extLst>
                  <a:ext uri="{0D108BD9-81ED-4DB2-BD59-A6C34878D82A}">
                    <a16:rowId xmlns:a16="http://schemas.microsoft.com/office/drawing/2014/main" val="10002"/>
                  </a:ext>
                </a:extLst>
              </a:tr>
              <a:tr h="237600">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Wales</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WAL</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4.7%</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 UK value</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extLst>
                  <a:ext uri="{0D108BD9-81ED-4DB2-BD59-A6C34878D82A}">
                    <a16:rowId xmlns:a16="http://schemas.microsoft.com/office/drawing/2014/main" val="10003"/>
                  </a:ext>
                </a:extLst>
              </a:tr>
              <a:tr h="237600">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Northern Ireland</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NIR</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2.9%</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tc>
                  <a:txBody>
                    <a:bodyPr/>
                    <a:lstStyle/>
                    <a:p>
                      <a:pPr algn="ctr" defTabSz="914400">
                        <a:lnSpc>
                          <a:spcPct val="100000"/>
                        </a:lnSpc>
                        <a:tabLst>
                          <a:tab pos="0" algn="l"/>
                        </a:tabLst>
                      </a:pPr>
                      <a:r>
                        <a:rPr lang="en-US" sz="1000" b="0" u="none" strike="noStrike">
                          <a:solidFill>
                            <a:srgbClr val="000000"/>
                          </a:solidFill>
                          <a:effectLst/>
                          <a:uFillTx/>
                          <a:latin typeface="Calibri"/>
                          <a:ea typeface="Calibri"/>
                        </a:rPr>
                        <a:t>= UK value</a:t>
                      </a:r>
                      <a:endParaRPr lang="en-US" sz="1000" b="0" u="none" strike="noStrike">
                        <a:solidFill>
                          <a:srgbClr val="000000"/>
                        </a:solidFill>
                        <a:effectLst/>
                        <a:uFillTx/>
                        <a:latin typeface="Arial"/>
                      </a:endParaRPr>
                    </a:p>
                  </a:txBody>
                  <a:tcP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noFill/>
                  </a:tcPr>
                </a:tc>
                <a:extLst>
                  <a:ext uri="{0D108BD9-81ED-4DB2-BD59-A6C34878D82A}">
                    <a16:rowId xmlns:a16="http://schemas.microsoft.com/office/drawing/2014/main" val="10004"/>
                  </a:ext>
                </a:extLst>
              </a:tr>
            </a:tbl>
          </a:graphicData>
        </a:graphic>
      </p:graphicFrame>
      <p:sp>
        <p:nvSpPr>
          <p:cNvPr id="197" name="Text 23"/>
          <p:cNvSpPr/>
          <p:nvPr/>
        </p:nvSpPr>
        <p:spPr>
          <a:xfrm>
            <a:off x="4617720" y="2907720"/>
            <a:ext cx="406836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0D9488"/>
                </a:solidFill>
                <a:effectLst/>
                <a:uFillTx/>
                <a:latin typeface="Calibri"/>
                <a:ea typeface="Calibri"/>
              </a:rPr>
              <a:t>Known Exclusions</a:t>
            </a:r>
            <a:endParaRPr lang="en-US" sz="1200" b="0" u="none" strike="noStrike">
              <a:solidFill>
                <a:srgbClr val="000000"/>
              </a:solidFill>
              <a:effectLst/>
              <a:uFillTx/>
              <a:latin typeface="Arial"/>
            </a:endParaRPr>
          </a:p>
        </p:txBody>
      </p:sp>
      <p:sp>
        <p:nvSpPr>
          <p:cNvPr id="198" name="Text 24"/>
          <p:cNvSpPr/>
          <p:nvPr/>
        </p:nvSpPr>
        <p:spPr>
          <a:xfrm>
            <a:off x="4617720" y="3246120"/>
            <a:ext cx="4068360" cy="38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E293B"/>
                </a:solidFill>
                <a:effectLst/>
                <a:uFillTx/>
                <a:latin typeface="Calibri"/>
                <a:ea typeface="Calibri"/>
              </a:rPr>
              <a:t>World Bank aggregates: </a:t>
            </a:r>
            <a:r>
              <a:rPr lang="en-US" sz="1000" b="0" u="none" strike="noStrike">
                <a:solidFill>
                  <a:srgbClr val="64748B"/>
                </a:solidFill>
                <a:effectLst/>
                <a:uFillTx/>
                <a:latin typeface="Calibri"/>
                <a:ea typeface="Calibri"/>
              </a:rPr>
              <a:t>WLD, EUU, HIC, LCN… — regional/income groups, not countries</a:t>
            </a:r>
            <a:endParaRPr lang="en-US" sz="1000" b="0" u="none" strike="noStrike">
              <a:solidFill>
                <a:srgbClr val="000000"/>
              </a:solidFill>
              <a:effectLst/>
              <a:uFillTx/>
              <a:latin typeface="Arial"/>
            </a:endParaRPr>
          </a:p>
        </p:txBody>
      </p:sp>
      <p:sp>
        <p:nvSpPr>
          <p:cNvPr id="199" name="Text 25"/>
          <p:cNvSpPr/>
          <p:nvPr/>
        </p:nvSpPr>
        <p:spPr>
          <a:xfrm>
            <a:off x="4617720" y="3684960"/>
            <a:ext cx="4068360" cy="38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E293B"/>
                </a:solidFill>
                <a:effectLst/>
                <a:uFillTx/>
                <a:latin typeface="Calibri"/>
                <a:ea typeface="Calibri"/>
              </a:rPr>
              <a:t>Years ≠ 1998–2018: </a:t>
            </a:r>
            <a:r>
              <a:rPr lang="en-US" sz="1000" b="0" u="none" strike="noStrike">
                <a:solidFill>
                  <a:srgbClr val="64748B"/>
                </a:solidFill>
                <a:effectLst/>
                <a:uFillTx/>
                <a:latin typeface="Calibri"/>
                <a:ea typeface="Calibri"/>
              </a:rPr>
              <a:t>Scoped to World Cup editions in project range</a:t>
            </a:r>
            <a:endParaRPr lang="en-US" sz="1000" b="0" u="none" strike="noStrike">
              <a:solidFill>
                <a:srgbClr val="000000"/>
              </a:solidFill>
              <a:effectLst/>
              <a:uFillTx/>
              <a:latin typeface="Arial"/>
            </a:endParaRPr>
          </a:p>
        </p:txBody>
      </p:sp>
      <p:sp>
        <p:nvSpPr>
          <p:cNvPr id="200" name="Text 26"/>
          <p:cNvSpPr/>
          <p:nvPr/>
        </p:nvSpPr>
        <p:spPr>
          <a:xfrm>
            <a:off x="4617720" y="4123800"/>
            <a:ext cx="4068360" cy="38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1E293B"/>
                </a:solidFill>
                <a:effectLst/>
                <a:uFillTx/>
                <a:latin typeface="Calibri"/>
                <a:ea typeface="Calibri"/>
              </a:rPr>
              <a:t>North Korea (DPRK): </a:t>
            </a:r>
            <a:r>
              <a:rPr lang="en-US" sz="1000" b="0" u="none" strike="noStrike">
                <a:solidFill>
                  <a:srgbClr val="64748B"/>
                </a:solidFill>
                <a:effectLst/>
                <a:uFillTx/>
                <a:latin typeface="Calibri"/>
                <a:ea typeface="Calibri"/>
              </a:rPr>
              <a:t>MISSING_GDP (World Bank). Only 1 WC edition (2010). 3 null rows kept in fact table — documented exclusion.</a:t>
            </a:r>
            <a:endParaRPr lang="en-US" sz="10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01" name="Text 0"/>
          <p:cNvSpPr/>
          <p:nvPr/>
        </p:nvSpPr>
        <p:spPr>
          <a:xfrm>
            <a:off x="457200" y="137160"/>
            <a:ext cx="8228880" cy="419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Gold Data Model — Star Schema</a:t>
            </a:r>
            <a:endParaRPr lang="en-US" sz="2600" b="0" u="none" strike="noStrike">
              <a:solidFill>
                <a:srgbClr val="000000"/>
              </a:solidFill>
              <a:effectLst/>
              <a:uFillTx/>
              <a:latin typeface="Arial"/>
            </a:endParaRPr>
          </a:p>
        </p:txBody>
      </p:sp>
      <p:sp>
        <p:nvSpPr>
          <p:cNvPr id="202" name="Text 1"/>
          <p:cNvSpPr/>
          <p:nvPr/>
        </p:nvSpPr>
        <p:spPr>
          <a:xfrm>
            <a:off x="457200" y="567000"/>
            <a:ext cx="822888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F766E"/>
                </a:solidFill>
                <a:effectLst/>
                <a:uFillTx/>
                <a:latin typeface="Calibri"/>
                <a:ea typeface="Calibri"/>
              </a:rPr>
              <a:t>Grain: </a:t>
            </a:r>
            <a:r>
              <a:rPr lang="en-US" sz="1100" b="0" u="none" strike="noStrike">
                <a:solidFill>
                  <a:srgbClr val="0F766E"/>
                </a:solidFill>
                <a:effectLst/>
                <a:uFillTx/>
                <a:latin typeface="Calibri"/>
                <a:ea typeface="Calibri"/>
              </a:rPr>
              <a:t>1 row = 1 country × 1 match  |  768 rows  |  Azure SQL Server, dbo schema</a:t>
            </a:r>
            <a:endParaRPr lang="en-US" sz="1100" b="0" u="none" strike="noStrike">
              <a:solidFill>
                <a:srgbClr val="000000"/>
              </a:solidFill>
              <a:effectLst/>
              <a:uFillTx/>
              <a:latin typeface="Arial"/>
            </a:endParaRPr>
          </a:p>
        </p:txBody>
      </p:sp>
      <p:pic>
        <p:nvPicPr>
          <p:cNvPr id="203" name="Image 0" descr="/sessions/dazzling-keen-cannon/mnt/fifa-worldcup-socioeconomic-analysis/docs/star_schema.jpeg"/>
          <p:cNvPicPr/>
          <p:nvPr/>
        </p:nvPicPr>
        <p:blipFill>
          <a:blip r:embed="rId3"/>
          <a:stretch/>
        </p:blipFill>
        <p:spPr>
          <a:xfrm>
            <a:off x="1280160" y="786240"/>
            <a:ext cx="6363961" cy="4292298"/>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04" name="Text 0"/>
          <p:cNvSpPr/>
          <p:nvPr/>
        </p:nvSpPr>
        <p:spPr>
          <a:xfrm>
            <a:off x="457200" y="16452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C2D4E"/>
                </a:solidFill>
                <a:effectLst/>
                <a:uFillTx/>
                <a:latin typeface="Calibri"/>
                <a:ea typeface="Calibri"/>
              </a:rPr>
              <a:t>Validation — Silver &amp; Gold</a:t>
            </a:r>
            <a:endParaRPr lang="en-US" sz="2600" b="0" u="none" strike="noStrike">
              <a:solidFill>
                <a:srgbClr val="000000"/>
              </a:solidFill>
              <a:effectLst/>
              <a:uFillTx/>
              <a:latin typeface="Arial"/>
            </a:endParaRPr>
          </a:p>
        </p:txBody>
      </p:sp>
      <p:sp>
        <p:nvSpPr>
          <p:cNvPr id="205" name="Shape 1"/>
          <p:cNvSpPr/>
          <p:nvPr/>
        </p:nvSpPr>
        <p:spPr>
          <a:xfrm>
            <a:off x="365760" y="749880"/>
            <a:ext cx="4114080" cy="4159800"/>
          </a:xfrm>
          <a:prstGeom prst="roundRect">
            <a:avLst>
              <a:gd name="adj" fmla="val 2222"/>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2"/>
          <p:cNvSpPr/>
          <p:nvPr/>
        </p:nvSpPr>
        <p:spPr>
          <a:xfrm>
            <a:off x="530280" y="82296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Silver Cross-Check  (silver_bronze_check.ipynb)</a:t>
            </a:r>
            <a:endParaRPr lang="en-US" sz="1100" b="0" u="none" strike="noStrike">
              <a:solidFill>
                <a:srgbClr val="000000"/>
              </a:solidFill>
              <a:effectLst/>
              <a:uFillTx/>
              <a:latin typeface="Arial"/>
            </a:endParaRPr>
          </a:p>
        </p:txBody>
      </p:sp>
      <p:sp>
        <p:nvSpPr>
          <p:cNvPr id="207" name="Text 3"/>
          <p:cNvSpPr/>
          <p:nvPr/>
        </p:nvSpPr>
        <p:spPr>
          <a:xfrm>
            <a:off x="530280" y="1115640"/>
            <a:ext cx="382140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64748B"/>
                </a:solidFill>
                <a:effectLst/>
                <a:uFillTx/>
                <a:latin typeface="Calibri"/>
                <a:ea typeface="Calibri"/>
              </a:rPr>
              <a:t>10 quality topics run after every pipeline execution:</a:t>
            </a:r>
            <a:endParaRPr lang="en-US" sz="1000" b="0" u="none" strike="noStrike">
              <a:solidFill>
                <a:srgbClr val="000000"/>
              </a:solidFill>
              <a:effectLst/>
              <a:uFillTx/>
              <a:latin typeface="Arial"/>
            </a:endParaRPr>
          </a:p>
        </p:txBody>
      </p:sp>
      <p:sp>
        <p:nvSpPr>
          <p:cNvPr id="208" name="Text 4"/>
          <p:cNvSpPr/>
          <p:nvPr/>
        </p:nvSpPr>
        <p:spPr>
          <a:xfrm>
            <a:off x="530280" y="138996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1.  File availability — all expected files exist</a:t>
            </a:r>
            <a:endParaRPr lang="en-US" sz="1000" b="0" u="none" strike="noStrike">
              <a:solidFill>
                <a:srgbClr val="000000"/>
              </a:solidFill>
              <a:effectLst/>
              <a:uFillTx/>
              <a:latin typeface="Arial"/>
            </a:endParaRPr>
          </a:p>
        </p:txBody>
      </p:sp>
      <p:sp>
        <p:nvSpPr>
          <p:cNvPr id="209" name="Text 5"/>
          <p:cNvSpPr/>
          <p:nvPr/>
        </p:nvSpPr>
        <p:spPr>
          <a:xfrm>
            <a:off x="530280" y="170064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2.  Row + column counts (retention %)</a:t>
            </a:r>
            <a:endParaRPr lang="en-US" sz="1000" b="0" u="none" strike="noStrike">
              <a:solidFill>
                <a:srgbClr val="000000"/>
              </a:solidFill>
              <a:effectLst/>
              <a:uFillTx/>
              <a:latin typeface="Arial"/>
            </a:endParaRPr>
          </a:p>
        </p:txBody>
      </p:sp>
      <p:sp>
        <p:nvSpPr>
          <p:cNvPr id="210" name="Text 6"/>
          <p:cNvSpPr/>
          <p:nvPr/>
        </p:nvSpPr>
        <p:spPr>
          <a:xfrm>
            <a:off x="530280" y="201168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3.  Column audit — no unexpected renames</a:t>
            </a:r>
            <a:endParaRPr lang="en-US" sz="1000" b="0" u="none" strike="noStrike">
              <a:solidFill>
                <a:srgbClr val="000000"/>
              </a:solidFill>
              <a:effectLst/>
              <a:uFillTx/>
              <a:latin typeface="Arial"/>
            </a:endParaRPr>
          </a:p>
        </p:txBody>
      </p:sp>
      <p:sp>
        <p:nvSpPr>
          <p:cNvPr id="211" name="Text 7"/>
          <p:cNvSpPr/>
          <p:nvPr/>
        </p:nvSpPr>
        <p:spPr>
          <a:xfrm>
            <a:off x="530280" y="232272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4.  Year coverage — 1998–2018 (21 years)</a:t>
            </a:r>
            <a:endParaRPr lang="en-US" sz="1000" b="0" u="none" strike="noStrike">
              <a:solidFill>
                <a:srgbClr val="000000"/>
              </a:solidFill>
              <a:effectLst/>
              <a:uFillTx/>
              <a:latin typeface="Arial"/>
            </a:endParaRPr>
          </a:p>
        </p:txBody>
      </p:sp>
      <p:sp>
        <p:nvSpPr>
          <p:cNvPr id="212" name="Text 8"/>
          <p:cNvSpPr/>
          <p:nvPr/>
        </p:nvSpPr>
        <p:spPr>
          <a:xfrm>
            <a:off x="530280" y="263340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5.  Null values — top 5 null columns per dataset</a:t>
            </a:r>
            <a:endParaRPr lang="en-US" sz="1000" b="0" u="none" strike="noStrike">
              <a:solidFill>
                <a:srgbClr val="000000"/>
              </a:solidFill>
              <a:effectLst/>
              <a:uFillTx/>
              <a:latin typeface="Arial"/>
            </a:endParaRPr>
          </a:p>
        </p:txBody>
      </p:sp>
      <p:sp>
        <p:nvSpPr>
          <p:cNvPr id="213" name="Text 9"/>
          <p:cNvSpPr/>
          <p:nvPr/>
        </p:nvSpPr>
        <p:spPr>
          <a:xfrm>
            <a:off x="530280" y="294444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6.  Duplicate checks — full row + business key</a:t>
            </a:r>
            <a:endParaRPr lang="en-US" sz="1000" b="0" u="none" strike="noStrike">
              <a:solidFill>
                <a:srgbClr val="000000"/>
              </a:solidFill>
              <a:effectLst/>
              <a:uFillTx/>
              <a:latin typeface="Arial"/>
            </a:endParaRPr>
          </a:p>
        </p:txBody>
      </p:sp>
      <p:sp>
        <p:nvSpPr>
          <p:cNvPr id="214" name="Text 10"/>
          <p:cNvSpPr/>
          <p:nvPr/>
        </p:nvSpPr>
        <p:spPr>
          <a:xfrm>
            <a:off x="530280" y="325512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7.  Business rules (positive scores, valid dates, GDP/pop &gt; 0)</a:t>
            </a:r>
            <a:endParaRPr lang="en-US" sz="1000" b="0" u="none" strike="noStrike">
              <a:solidFill>
                <a:srgbClr val="000000"/>
              </a:solidFill>
              <a:effectLst/>
              <a:uFillTx/>
              <a:latin typeface="Arial"/>
            </a:endParaRPr>
          </a:p>
        </p:txBody>
      </p:sp>
      <p:sp>
        <p:nvSpPr>
          <p:cNvPr id="215" name="Text 11"/>
          <p:cNvSpPr/>
          <p:nvPr/>
        </p:nvSpPr>
        <p:spPr>
          <a:xfrm>
            <a:off x="530280" y="356616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8.  Rejected row summary — breakdown by review_reason</a:t>
            </a:r>
            <a:endParaRPr lang="en-US" sz="1000" b="0" u="none" strike="noStrike">
              <a:solidFill>
                <a:srgbClr val="000000"/>
              </a:solidFill>
              <a:effectLst/>
              <a:uFillTx/>
              <a:latin typeface="Arial"/>
            </a:endParaRPr>
          </a:p>
        </p:txBody>
      </p:sp>
      <p:sp>
        <p:nvSpPr>
          <p:cNvPr id="216" name="Text 12"/>
          <p:cNvSpPr/>
          <p:nvPr/>
        </p:nvSpPr>
        <p:spPr>
          <a:xfrm>
            <a:off x="530280" y="387720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9.  Country alignment — WC teams vs socioeconomics</a:t>
            </a:r>
            <a:endParaRPr lang="en-US" sz="1000" b="0" u="none" strike="noStrike">
              <a:solidFill>
                <a:srgbClr val="000000"/>
              </a:solidFill>
              <a:effectLst/>
              <a:uFillTx/>
              <a:latin typeface="Arial"/>
            </a:endParaRPr>
          </a:p>
        </p:txBody>
      </p:sp>
      <p:sp>
        <p:nvSpPr>
          <p:cNvPr id="217" name="Text 13"/>
          <p:cNvSpPr/>
          <p:nvPr/>
        </p:nvSpPr>
        <p:spPr>
          <a:xfrm>
            <a:off x="530280" y="418788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10. Metadata quality — source_name, load_timestamp, run_id</a:t>
            </a:r>
            <a:endParaRPr lang="en-US" sz="1000" b="0" u="none" strike="noStrike">
              <a:solidFill>
                <a:srgbClr val="000000"/>
              </a:solidFill>
              <a:effectLst/>
              <a:uFillTx/>
              <a:latin typeface="Arial"/>
            </a:endParaRPr>
          </a:p>
        </p:txBody>
      </p:sp>
      <p:sp>
        <p:nvSpPr>
          <p:cNvPr id="218" name="Shape 14"/>
          <p:cNvSpPr/>
          <p:nvPr/>
        </p:nvSpPr>
        <p:spPr>
          <a:xfrm>
            <a:off x="502920" y="4535280"/>
            <a:ext cx="3821400" cy="291960"/>
          </a:xfrm>
          <a:prstGeom prst="roundRect">
            <a:avLst>
              <a:gd name="adj" fmla="val 21875"/>
            </a:avLst>
          </a:prstGeom>
          <a:solidFill>
            <a:srgbClr val="F0FDF4"/>
          </a:solidFill>
          <a:ln w="12700">
            <a:solidFill>
              <a:srgbClr val="16A3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9" name="Text 15"/>
          <p:cNvSpPr/>
          <p:nvPr/>
        </p:nvSpPr>
        <p:spPr>
          <a:xfrm>
            <a:off x="548640" y="4535280"/>
            <a:ext cx="3729960" cy="29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66534"/>
                </a:solidFill>
                <a:effectLst/>
                <a:uFillTx/>
                <a:latin typeface="Calibri"/>
                <a:ea typeface="Calibri"/>
              </a:rPr>
              <a:t>5 name corrections applied · 1 documented exclusion (North Korea)</a:t>
            </a:r>
            <a:endParaRPr lang="en-US" sz="950" b="0" u="none" strike="noStrike">
              <a:solidFill>
                <a:srgbClr val="000000"/>
              </a:solidFill>
              <a:effectLst/>
              <a:uFillTx/>
              <a:latin typeface="Arial"/>
            </a:endParaRPr>
          </a:p>
        </p:txBody>
      </p:sp>
      <p:sp>
        <p:nvSpPr>
          <p:cNvPr id="220" name="Shape 16"/>
          <p:cNvSpPr/>
          <p:nvPr/>
        </p:nvSpPr>
        <p:spPr>
          <a:xfrm>
            <a:off x="4663440" y="749880"/>
            <a:ext cx="4114080" cy="4159800"/>
          </a:xfrm>
          <a:prstGeom prst="roundRect">
            <a:avLst>
              <a:gd name="adj" fmla="val 2222"/>
            </a:avLst>
          </a:prstGeom>
          <a:solidFill>
            <a:srgbClr val="FFFFFF"/>
          </a:solidFill>
          <a:ln w="12700">
            <a:solidFill>
              <a:srgbClr val="E2E8F0"/>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7"/>
          <p:cNvSpPr/>
          <p:nvPr/>
        </p:nvSpPr>
        <p:spPr>
          <a:xfrm>
            <a:off x="4827960" y="822960"/>
            <a:ext cx="382140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Gold SQL Validation  (sp_validate_gold_layer)</a:t>
            </a:r>
            <a:endParaRPr lang="en-US" sz="1100" b="0" u="none" strike="noStrike">
              <a:solidFill>
                <a:srgbClr val="000000"/>
              </a:solidFill>
              <a:effectLst/>
              <a:uFillTx/>
              <a:latin typeface="Arial"/>
            </a:endParaRPr>
          </a:p>
        </p:txBody>
      </p:sp>
      <p:sp>
        <p:nvSpPr>
          <p:cNvPr id="222" name="Text 18"/>
          <p:cNvSpPr/>
          <p:nvPr/>
        </p:nvSpPr>
        <p:spPr>
          <a:xfrm>
            <a:off x="4827960" y="1115640"/>
            <a:ext cx="382140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64748B"/>
                </a:solidFill>
                <a:effectLst/>
                <a:uFillTx/>
                <a:latin typeface="Calibri"/>
                <a:ea typeface="Calibri"/>
              </a:rPr>
              <a:t>Stored procedure — results logged to etl_golden_logs:</a:t>
            </a:r>
            <a:endParaRPr lang="en-US" sz="1000" b="0" u="none" strike="noStrike">
              <a:solidFill>
                <a:srgbClr val="000000"/>
              </a:solidFill>
              <a:effectLst/>
              <a:uFillTx/>
              <a:latin typeface="Arial"/>
            </a:endParaRPr>
          </a:p>
        </p:txBody>
      </p:sp>
      <p:sp>
        <p:nvSpPr>
          <p:cNvPr id="223" name="Shape 19"/>
          <p:cNvSpPr/>
          <p:nvPr/>
        </p:nvSpPr>
        <p:spPr>
          <a:xfrm>
            <a:off x="4827960" y="140832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4" name="Text 20"/>
          <p:cNvSpPr/>
          <p:nvPr/>
        </p:nvSpPr>
        <p:spPr>
          <a:xfrm>
            <a:off x="4827960" y="140832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1</a:t>
            </a:r>
            <a:endParaRPr lang="en-US" sz="900" b="0" u="none" strike="noStrike">
              <a:solidFill>
                <a:srgbClr val="000000"/>
              </a:solidFill>
              <a:effectLst/>
              <a:uFillTx/>
              <a:latin typeface="Arial"/>
            </a:endParaRPr>
          </a:p>
        </p:txBody>
      </p:sp>
      <p:sp>
        <p:nvSpPr>
          <p:cNvPr id="225" name="Text 21"/>
          <p:cNvSpPr/>
          <p:nvPr/>
        </p:nvSpPr>
        <p:spPr>
          <a:xfrm>
            <a:off x="5139000" y="140832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Match + team counts per tournament vs dim_tournament</a:t>
            </a:r>
            <a:endParaRPr lang="en-US" sz="1000" b="0" u="none" strike="noStrike">
              <a:solidFill>
                <a:srgbClr val="000000"/>
              </a:solidFill>
              <a:effectLst/>
              <a:uFillTx/>
              <a:latin typeface="Arial"/>
            </a:endParaRPr>
          </a:p>
        </p:txBody>
      </p:sp>
      <p:sp>
        <p:nvSpPr>
          <p:cNvPr id="226" name="Shape 22"/>
          <p:cNvSpPr/>
          <p:nvPr/>
        </p:nvSpPr>
        <p:spPr>
          <a:xfrm>
            <a:off x="4827960" y="181044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7" name="Text 23"/>
          <p:cNvSpPr/>
          <p:nvPr/>
        </p:nvSpPr>
        <p:spPr>
          <a:xfrm>
            <a:off x="4827960" y="181044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2</a:t>
            </a:r>
            <a:endParaRPr lang="en-US" sz="900" b="0" u="none" strike="noStrike">
              <a:solidFill>
                <a:srgbClr val="000000"/>
              </a:solidFill>
              <a:effectLst/>
              <a:uFillTx/>
              <a:latin typeface="Arial"/>
            </a:endParaRPr>
          </a:p>
        </p:txBody>
      </p:sp>
      <p:sp>
        <p:nvSpPr>
          <p:cNvPr id="228" name="Text 24"/>
          <p:cNvSpPr/>
          <p:nvPr/>
        </p:nvSpPr>
        <p:spPr>
          <a:xfrm>
            <a:off x="5139000" y="181044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population &gt; 0  (except North Korea)</a:t>
            </a:r>
            <a:endParaRPr lang="en-US" sz="1000" b="0" u="none" strike="noStrike">
              <a:solidFill>
                <a:srgbClr val="000000"/>
              </a:solidFill>
              <a:effectLst/>
              <a:uFillTx/>
              <a:latin typeface="Arial"/>
            </a:endParaRPr>
          </a:p>
        </p:txBody>
      </p:sp>
      <p:sp>
        <p:nvSpPr>
          <p:cNvPr id="229" name="Shape 25"/>
          <p:cNvSpPr/>
          <p:nvPr/>
        </p:nvSpPr>
        <p:spPr>
          <a:xfrm>
            <a:off x="4827960" y="221292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0" name="Text 26"/>
          <p:cNvSpPr/>
          <p:nvPr/>
        </p:nvSpPr>
        <p:spPr>
          <a:xfrm>
            <a:off x="4827960" y="221292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3</a:t>
            </a:r>
            <a:endParaRPr lang="en-US" sz="900" b="0" u="none" strike="noStrike">
              <a:solidFill>
                <a:srgbClr val="000000"/>
              </a:solidFill>
              <a:effectLst/>
              <a:uFillTx/>
              <a:latin typeface="Arial"/>
            </a:endParaRPr>
          </a:p>
        </p:txBody>
      </p:sp>
      <p:sp>
        <p:nvSpPr>
          <p:cNvPr id="231" name="Text 27"/>
          <p:cNvSpPr/>
          <p:nvPr/>
        </p:nvSpPr>
        <p:spPr>
          <a:xfrm>
            <a:off x="5139000" y="221292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gdp_per_capita_usd &gt; 0  (except North Korea)</a:t>
            </a:r>
            <a:endParaRPr lang="en-US" sz="1000" b="0" u="none" strike="noStrike">
              <a:solidFill>
                <a:srgbClr val="000000"/>
              </a:solidFill>
              <a:effectLst/>
              <a:uFillTx/>
              <a:latin typeface="Arial"/>
            </a:endParaRPr>
          </a:p>
        </p:txBody>
      </p:sp>
      <p:sp>
        <p:nvSpPr>
          <p:cNvPr id="232" name="Shape 28"/>
          <p:cNvSpPr/>
          <p:nvPr/>
        </p:nvSpPr>
        <p:spPr>
          <a:xfrm>
            <a:off x="4827960" y="261504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3" name="Text 29"/>
          <p:cNvSpPr/>
          <p:nvPr/>
        </p:nvSpPr>
        <p:spPr>
          <a:xfrm>
            <a:off x="4827960" y="261504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4</a:t>
            </a:r>
            <a:endParaRPr lang="en-US" sz="900" b="0" u="none" strike="noStrike">
              <a:solidFill>
                <a:srgbClr val="000000"/>
              </a:solidFill>
              <a:effectLst/>
              <a:uFillTx/>
              <a:latin typeface="Arial"/>
            </a:endParaRPr>
          </a:p>
        </p:txBody>
      </p:sp>
      <p:sp>
        <p:nvSpPr>
          <p:cNvPr id="234" name="Text 30"/>
          <p:cNvSpPr/>
          <p:nvPr/>
        </p:nvSpPr>
        <p:spPr>
          <a:xfrm>
            <a:off x="5139000" y="261504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performance_stars between 1 and 6</a:t>
            </a:r>
            <a:endParaRPr lang="en-US" sz="1000" b="0" u="none" strike="noStrike">
              <a:solidFill>
                <a:srgbClr val="000000"/>
              </a:solidFill>
              <a:effectLst/>
              <a:uFillTx/>
              <a:latin typeface="Arial"/>
            </a:endParaRPr>
          </a:p>
        </p:txBody>
      </p:sp>
      <p:sp>
        <p:nvSpPr>
          <p:cNvPr id="235" name="Shape 31"/>
          <p:cNvSpPr/>
          <p:nvPr/>
        </p:nvSpPr>
        <p:spPr>
          <a:xfrm>
            <a:off x="4827960" y="301752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6" name="Text 32"/>
          <p:cNvSpPr/>
          <p:nvPr/>
        </p:nvSpPr>
        <p:spPr>
          <a:xfrm>
            <a:off x="4827960" y="301752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5</a:t>
            </a:r>
            <a:endParaRPr lang="en-US" sz="900" b="0" u="none" strike="noStrike">
              <a:solidFill>
                <a:srgbClr val="000000"/>
              </a:solidFill>
              <a:effectLst/>
              <a:uFillTx/>
              <a:latin typeface="Arial"/>
            </a:endParaRPr>
          </a:p>
        </p:txBody>
      </p:sp>
      <p:sp>
        <p:nvSpPr>
          <p:cNvPr id="237" name="Text 33"/>
          <p:cNvSpPr/>
          <p:nvPr/>
        </p:nvSpPr>
        <p:spPr>
          <a:xfrm>
            <a:off x="5139000" y="301752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is_host in (0, 1)  — no nulls</a:t>
            </a:r>
            <a:endParaRPr lang="en-US" sz="1000" b="0" u="none" strike="noStrike">
              <a:solidFill>
                <a:srgbClr val="000000"/>
              </a:solidFill>
              <a:effectLst/>
              <a:uFillTx/>
              <a:latin typeface="Arial"/>
            </a:endParaRPr>
          </a:p>
        </p:txBody>
      </p:sp>
      <p:sp>
        <p:nvSpPr>
          <p:cNvPr id="238" name="Shape 34"/>
          <p:cNvSpPr/>
          <p:nvPr/>
        </p:nvSpPr>
        <p:spPr>
          <a:xfrm>
            <a:off x="4827960" y="342000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9" name="Text 35"/>
          <p:cNvSpPr/>
          <p:nvPr/>
        </p:nvSpPr>
        <p:spPr>
          <a:xfrm>
            <a:off x="4827960" y="342000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6</a:t>
            </a:r>
            <a:endParaRPr lang="en-US" sz="900" b="0" u="none" strike="noStrike">
              <a:solidFill>
                <a:srgbClr val="000000"/>
              </a:solidFill>
              <a:effectLst/>
              <a:uFillTx/>
              <a:latin typeface="Arial"/>
            </a:endParaRPr>
          </a:p>
        </p:txBody>
      </p:sp>
      <p:sp>
        <p:nvSpPr>
          <p:cNvPr id="240" name="Text 36"/>
          <p:cNvSpPr/>
          <p:nvPr/>
        </p:nvSpPr>
        <p:spPr>
          <a:xfrm>
            <a:off x="5139000" y="342000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All team_country_id exist in dim_country</a:t>
            </a:r>
            <a:endParaRPr lang="en-US" sz="1000" b="0" u="none" strike="noStrike">
              <a:solidFill>
                <a:srgbClr val="000000"/>
              </a:solidFill>
              <a:effectLst/>
              <a:uFillTx/>
              <a:latin typeface="Arial"/>
            </a:endParaRPr>
          </a:p>
        </p:txBody>
      </p:sp>
      <p:sp>
        <p:nvSpPr>
          <p:cNvPr id="241" name="Shape 37"/>
          <p:cNvSpPr/>
          <p:nvPr/>
        </p:nvSpPr>
        <p:spPr>
          <a:xfrm>
            <a:off x="4827960" y="3822120"/>
            <a:ext cx="255240" cy="255240"/>
          </a:xfrm>
          <a:prstGeom prst="ellipse">
            <a:avLst/>
          </a:prstGeom>
          <a:solidFill>
            <a:srgbClr val="0D9488"/>
          </a:solidFill>
          <a:ln w="12700">
            <a:solidFill>
              <a:srgbClr val="0D948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2" name="Text 38"/>
          <p:cNvSpPr/>
          <p:nvPr/>
        </p:nvSpPr>
        <p:spPr>
          <a:xfrm>
            <a:off x="4827960" y="3822120"/>
            <a:ext cx="2552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FFFFFF"/>
                </a:solidFill>
                <a:effectLst/>
                <a:uFillTx/>
                <a:latin typeface="Calibri"/>
                <a:ea typeface="Calibri"/>
              </a:rPr>
              <a:t>7</a:t>
            </a:r>
            <a:endParaRPr lang="en-US" sz="900" b="0" u="none" strike="noStrike">
              <a:solidFill>
                <a:srgbClr val="000000"/>
              </a:solidFill>
              <a:effectLst/>
              <a:uFillTx/>
              <a:latin typeface="Arial"/>
            </a:endParaRPr>
          </a:p>
        </p:txBody>
      </p:sp>
      <p:sp>
        <p:nvSpPr>
          <p:cNvPr id="243" name="Text 39"/>
          <p:cNvSpPr/>
          <p:nvPr/>
        </p:nvSpPr>
        <p:spPr>
          <a:xfrm>
            <a:off x="5139000" y="3822120"/>
            <a:ext cx="351972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1E293B"/>
                </a:solidFill>
                <a:effectLst/>
                <a:uFillTx/>
                <a:latin typeface="Calibri"/>
                <a:ea typeface="Calibri"/>
              </a:rPr>
              <a:t>Each tournament_id maps to exactly one year_id</a:t>
            </a:r>
            <a:endParaRPr lang="en-US" sz="1000" b="0" u="none" strike="noStrike">
              <a:solidFill>
                <a:srgbClr val="000000"/>
              </a:solidFill>
              <a:effectLst/>
              <a:uFillTx/>
              <a:latin typeface="Arial"/>
            </a:endParaRPr>
          </a:p>
        </p:txBody>
      </p:sp>
      <p:sp>
        <p:nvSpPr>
          <p:cNvPr id="244" name="Shape 40"/>
          <p:cNvSpPr/>
          <p:nvPr/>
        </p:nvSpPr>
        <p:spPr>
          <a:xfrm>
            <a:off x="4800600" y="4535280"/>
            <a:ext cx="3821400" cy="291960"/>
          </a:xfrm>
          <a:prstGeom prst="roundRect">
            <a:avLst>
              <a:gd name="adj" fmla="val 21875"/>
            </a:avLst>
          </a:prstGeom>
          <a:solidFill>
            <a:srgbClr val="F0FDF4"/>
          </a:solidFill>
          <a:ln w="12700">
            <a:solidFill>
              <a:srgbClr val="16A3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5" name="Text 41"/>
          <p:cNvSpPr/>
          <p:nvPr/>
        </p:nvSpPr>
        <p:spPr>
          <a:xfrm>
            <a:off x="4846320" y="4535280"/>
            <a:ext cx="3729960" cy="29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50" b="1" u="none" strike="noStrike">
                <a:solidFill>
                  <a:srgbClr val="166534"/>
                </a:solidFill>
                <a:effectLst/>
                <a:uFillTx/>
                <a:latin typeface="Calibri"/>
                <a:ea typeface="Calibri"/>
              </a:rPr>
              <a:t>PASS — 768 rows  |  3 nulls North Korea (documented exclusion)</a:t>
            </a:r>
            <a:endParaRPr lang="en-US" sz="9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2D4E"/>
        </a:solidFill>
        <a:effectLst/>
      </p:bgPr>
    </p:bg>
    <p:spTree>
      <p:nvGrpSpPr>
        <p:cNvPr id="1" name=""/>
        <p:cNvGrpSpPr/>
        <p:nvPr/>
      </p:nvGrpSpPr>
      <p:grpSpPr>
        <a:xfrm>
          <a:off x="0" y="0"/>
          <a:ext cx="0" cy="0"/>
          <a:chOff x="0" y="0"/>
          <a:chExt cx="0" cy="0"/>
        </a:xfrm>
      </p:grpSpPr>
      <p:sp>
        <p:nvSpPr>
          <p:cNvPr id="246" name="Text 0"/>
          <p:cNvSpPr/>
          <p:nvPr/>
        </p:nvSpPr>
        <p:spPr>
          <a:xfrm>
            <a:off x="548640" y="164520"/>
            <a:ext cx="804600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FFFFFF"/>
                </a:solidFill>
                <a:effectLst/>
                <a:uFillTx/>
                <a:latin typeface="Calibri"/>
                <a:ea typeface="Calibri"/>
              </a:rPr>
              <a:t>Power BI &amp; Next Steps</a:t>
            </a:r>
            <a:endParaRPr lang="en-US" sz="2600" b="0" u="none" strike="noStrike">
              <a:solidFill>
                <a:srgbClr val="FFFFFF"/>
              </a:solidFill>
              <a:effectLst/>
              <a:uFillTx/>
              <a:latin typeface="Arial"/>
            </a:endParaRPr>
          </a:p>
        </p:txBody>
      </p:sp>
      <p:sp>
        <p:nvSpPr>
          <p:cNvPr id="247" name="Shape 1"/>
          <p:cNvSpPr/>
          <p:nvPr/>
        </p:nvSpPr>
        <p:spPr>
          <a:xfrm>
            <a:off x="457200" y="777240"/>
            <a:ext cx="4022640" cy="3062520"/>
          </a:xfrm>
          <a:prstGeom prst="roundRect">
            <a:avLst>
              <a:gd name="adj" fmla="val 3582"/>
            </a:avLst>
          </a:prstGeom>
          <a:solidFill>
            <a:srgbClr val="FFFFFF">
              <a:alpha val="90000"/>
            </a:srgbClr>
          </a:solidFill>
          <a:ln w="12700">
            <a:solidFill>
              <a:srgbClr val="0D9488"/>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8" name="Text 2"/>
          <p:cNvSpPr/>
          <p:nvPr/>
        </p:nvSpPr>
        <p:spPr>
          <a:xfrm>
            <a:off x="640080" y="841320"/>
            <a:ext cx="3656880" cy="29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0D9488"/>
                </a:solidFill>
                <a:effectLst/>
                <a:uFillTx/>
                <a:latin typeface="Calibri"/>
                <a:ea typeface="Calibri"/>
              </a:rPr>
              <a:t>Power BI Reports</a:t>
            </a:r>
            <a:endParaRPr lang="en-US" sz="1300" b="0" u="none" strike="noStrike">
              <a:solidFill>
                <a:srgbClr val="FFFFFF"/>
              </a:solidFill>
              <a:effectLst/>
              <a:uFillTx/>
              <a:latin typeface="Arial"/>
            </a:endParaRPr>
          </a:p>
        </p:txBody>
      </p:sp>
      <p:sp>
        <p:nvSpPr>
          <p:cNvPr id="249" name="Text 3"/>
          <p:cNvSpPr/>
          <p:nvPr/>
        </p:nvSpPr>
        <p:spPr>
          <a:xfrm>
            <a:off x="640080" y="1152000"/>
            <a:ext cx="365688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94A3B8"/>
                </a:solidFill>
                <a:effectLst/>
                <a:uFillTx/>
                <a:latin typeface="Calibri"/>
                <a:ea typeface="Calibri"/>
              </a:rPr>
              <a:t>Source: dbo.fact_wc_match (Gold layer only)</a:t>
            </a:r>
            <a:endParaRPr lang="en-US" sz="1000" b="0" u="none" strike="noStrike">
              <a:solidFill>
                <a:srgbClr val="FFFFFF"/>
              </a:solidFill>
              <a:effectLst/>
              <a:uFillTx/>
              <a:latin typeface="Arial"/>
            </a:endParaRPr>
          </a:p>
        </p:txBody>
      </p:sp>
      <p:sp>
        <p:nvSpPr>
          <p:cNvPr id="250" name="Shape 4"/>
          <p:cNvSpPr/>
          <p:nvPr/>
        </p:nvSpPr>
        <p:spPr>
          <a:xfrm>
            <a:off x="548640" y="1481400"/>
            <a:ext cx="3931200" cy="2788200"/>
          </a:xfrm>
          <a:prstGeom prst="roundRect">
            <a:avLst>
              <a:gd name="adj" fmla="val 3934"/>
            </a:avLst>
          </a:prstGeom>
          <a:solidFill>
            <a:srgbClr val="FFFFFF">
              <a:alpha val="8000"/>
            </a:srgbClr>
          </a:solidFill>
          <a:ln w="12700">
            <a:solidFill>
              <a:srgbClr val="0D9488">
                <a:alpha val="50000"/>
              </a:srgbClr>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Shape 5"/>
          <p:cNvSpPr/>
          <p:nvPr/>
        </p:nvSpPr>
        <p:spPr>
          <a:xfrm>
            <a:off x="548640" y="1481400"/>
            <a:ext cx="3931200" cy="401760"/>
          </a:xfrm>
          <a:prstGeom prst="roundRect">
            <a:avLst>
              <a:gd name="adj" fmla="val 27273"/>
            </a:avLst>
          </a:prstGeom>
          <a:solidFill>
            <a:srgbClr val="0D9488">
              <a:alpha val="90000"/>
            </a:srgbClr>
          </a:solidFill>
          <a:ln w="12700">
            <a:solidFill>
              <a:srgbClr val="0D9488">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2" name="Shape 6"/>
          <p:cNvSpPr/>
          <p:nvPr/>
        </p:nvSpPr>
        <p:spPr>
          <a:xfrm>
            <a:off x="548640" y="1691640"/>
            <a:ext cx="3931200" cy="191160"/>
          </a:xfrm>
          <a:prstGeom prst="rect">
            <a:avLst/>
          </a:prstGeom>
          <a:solidFill>
            <a:srgbClr val="0D9488">
              <a:alpha val="90000"/>
            </a:srgbClr>
          </a:solidFill>
          <a:ln w="12700">
            <a:solidFill>
              <a:srgbClr val="0D9488">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3" name="Text 7"/>
          <p:cNvSpPr/>
          <p:nvPr/>
        </p:nvSpPr>
        <p:spPr>
          <a:xfrm>
            <a:off x="548640" y="1481400"/>
            <a:ext cx="3931200" cy="40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Page 1</a:t>
            </a:r>
            <a:endParaRPr lang="en-US" sz="1200" b="0" u="none" strike="noStrike">
              <a:solidFill>
                <a:srgbClr val="FFFFFF"/>
              </a:solidFill>
              <a:effectLst/>
              <a:uFillTx/>
              <a:latin typeface="Arial"/>
            </a:endParaRPr>
          </a:p>
        </p:txBody>
      </p:sp>
      <p:sp>
        <p:nvSpPr>
          <p:cNvPr id="254" name="Text 8"/>
          <p:cNvSpPr/>
          <p:nvPr/>
        </p:nvSpPr>
        <p:spPr>
          <a:xfrm>
            <a:off x="713160" y="1956960"/>
            <a:ext cx="3602160" cy="29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E0F2FE"/>
                </a:solidFill>
                <a:effectLst/>
                <a:uFillTx/>
                <a:latin typeface="Calibri"/>
                <a:ea typeface="Calibri"/>
              </a:rPr>
              <a:t>Tournament Performance</a:t>
            </a:r>
            <a:endParaRPr lang="en-US" sz="1300" b="0" u="none" strike="noStrike">
              <a:solidFill>
                <a:srgbClr val="FFFFFF"/>
              </a:solidFill>
              <a:effectLst/>
              <a:uFillTx/>
              <a:latin typeface="Arial"/>
            </a:endParaRPr>
          </a:p>
        </p:txBody>
      </p:sp>
      <p:sp>
        <p:nvSpPr>
          <p:cNvPr id="255" name="Text 9"/>
          <p:cNvSpPr/>
          <p:nvPr/>
        </p:nvSpPr>
        <p:spPr>
          <a:xfrm>
            <a:off x="713160" y="2304360"/>
            <a:ext cx="3602160" cy="182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000" b="0" u="none" strike="noStrike">
                <a:solidFill>
                  <a:srgbClr val="CBD5E1"/>
                </a:solidFill>
                <a:effectLst/>
                <a:uFillTx/>
                <a:latin typeface="Calibri"/>
                <a:ea typeface="Calibri"/>
              </a:rPr>
              <a:t>Stage reached by country/year · performance_stars rankings · Host advantage · Filters by confederation and year</a:t>
            </a:r>
            <a:endParaRPr lang="en-US" sz="1000" b="0" u="none" strike="noStrike">
              <a:solidFill>
                <a:srgbClr val="FFFFFF"/>
              </a:solidFill>
              <a:effectLst/>
              <a:uFillTx/>
              <a:latin typeface="Arial"/>
            </a:endParaRPr>
          </a:p>
        </p:txBody>
      </p:sp>
      <p:sp>
        <p:nvSpPr>
          <p:cNvPr id="256" name="Shape 10"/>
          <p:cNvSpPr/>
          <p:nvPr/>
        </p:nvSpPr>
        <p:spPr>
          <a:xfrm>
            <a:off x="4773240" y="1481400"/>
            <a:ext cx="3931200" cy="2788200"/>
          </a:xfrm>
          <a:prstGeom prst="roundRect">
            <a:avLst>
              <a:gd name="adj" fmla="val 3934"/>
            </a:avLst>
          </a:prstGeom>
          <a:solidFill>
            <a:srgbClr val="FFFFFF">
              <a:alpha val="8000"/>
            </a:srgbClr>
          </a:solidFill>
          <a:ln w="12700">
            <a:solidFill>
              <a:srgbClr val="0D9488">
                <a:alpha val="50000"/>
              </a:srgbClr>
            </a:solidFill>
            <a:round/>
          </a:ln>
          <a:effectLst>
            <a:outerShdw blurRad="101520" dist="25455"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7" name="Shape 11"/>
          <p:cNvSpPr/>
          <p:nvPr/>
        </p:nvSpPr>
        <p:spPr>
          <a:xfrm>
            <a:off x="4773240" y="1481400"/>
            <a:ext cx="3931200" cy="401760"/>
          </a:xfrm>
          <a:prstGeom prst="roundRect">
            <a:avLst>
              <a:gd name="adj" fmla="val 27273"/>
            </a:avLst>
          </a:prstGeom>
          <a:solidFill>
            <a:srgbClr val="0D9488">
              <a:alpha val="90000"/>
            </a:srgbClr>
          </a:solidFill>
          <a:ln w="12700">
            <a:solidFill>
              <a:srgbClr val="0D9488">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8" name="Shape 12"/>
          <p:cNvSpPr/>
          <p:nvPr/>
        </p:nvSpPr>
        <p:spPr>
          <a:xfrm>
            <a:off x="4773240" y="1691640"/>
            <a:ext cx="3931200" cy="191160"/>
          </a:xfrm>
          <a:prstGeom prst="rect">
            <a:avLst/>
          </a:prstGeom>
          <a:solidFill>
            <a:srgbClr val="0D9488">
              <a:alpha val="90000"/>
            </a:srgbClr>
          </a:solidFill>
          <a:ln w="12700">
            <a:solidFill>
              <a:srgbClr val="0D9488">
                <a:alpha val="9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9" name="Text 13"/>
          <p:cNvSpPr/>
          <p:nvPr/>
        </p:nvSpPr>
        <p:spPr>
          <a:xfrm>
            <a:off x="4773240" y="1481400"/>
            <a:ext cx="3931200" cy="40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Page 2</a:t>
            </a:r>
            <a:endParaRPr lang="en-US" sz="1200" b="0" u="none" strike="noStrike">
              <a:solidFill>
                <a:srgbClr val="FFFFFF"/>
              </a:solidFill>
              <a:effectLst/>
              <a:uFillTx/>
              <a:latin typeface="Arial"/>
            </a:endParaRPr>
          </a:p>
        </p:txBody>
      </p:sp>
      <p:sp>
        <p:nvSpPr>
          <p:cNvPr id="260" name="Text 14"/>
          <p:cNvSpPr/>
          <p:nvPr/>
        </p:nvSpPr>
        <p:spPr>
          <a:xfrm>
            <a:off x="4937760" y="1956960"/>
            <a:ext cx="3602160" cy="29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E0F2FE"/>
                </a:solidFill>
                <a:effectLst/>
                <a:uFillTx/>
                <a:latin typeface="Calibri"/>
                <a:ea typeface="Calibri"/>
              </a:rPr>
              <a:t>Socioeconomic vs. Performance</a:t>
            </a:r>
            <a:endParaRPr lang="en-US" sz="1300" b="0" u="none" strike="noStrike">
              <a:solidFill>
                <a:srgbClr val="FFFFFF"/>
              </a:solidFill>
              <a:effectLst/>
              <a:uFillTx/>
              <a:latin typeface="Arial"/>
            </a:endParaRPr>
          </a:p>
        </p:txBody>
      </p:sp>
      <p:sp>
        <p:nvSpPr>
          <p:cNvPr id="261" name="Text 15"/>
          <p:cNvSpPr/>
          <p:nvPr/>
        </p:nvSpPr>
        <p:spPr>
          <a:xfrm>
            <a:off x="4937760" y="2304360"/>
            <a:ext cx="3602160" cy="182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000" b="0" u="none" strike="noStrike">
                <a:solidFill>
                  <a:srgbClr val="CBD5E1"/>
                </a:solidFill>
                <a:effectLst/>
                <a:uFillTx/>
                <a:latin typeface="Calibri"/>
                <a:ea typeface="Calibri"/>
              </a:rPr>
              <a:t>GDP per capita vs. performance_stars scatter · Population size vs. stage reached · Filter by confederation</a:t>
            </a:r>
            <a:endParaRPr lang="en-US" sz="1000" b="0" u="none" strike="noStrike">
              <a:solidFill>
                <a:srgbClr val="FFFFFF"/>
              </a:solidFill>
              <a:effectLst/>
              <a:uFillTx/>
              <a:latin typeface="Arial"/>
            </a:endParaRPr>
          </a:p>
        </p:txBody>
      </p:sp>
      <p:sp>
        <p:nvSpPr>
          <p:cNvPr id="262" name="Shape 16"/>
          <p:cNvSpPr/>
          <p:nvPr/>
        </p:nvSpPr>
        <p:spPr>
          <a:xfrm>
            <a:off x="585360" y="4628029"/>
            <a:ext cx="8119080" cy="438120"/>
          </a:xfrm>
          <a:prstGeom prst="roundRect">
            <a:avLst>
              <a:gd name="adj" fmla="val 13793"/>
            </a:avLst>
          </a:prstGeom>
          <a:solidFill>
            <a:srgbClr val="FFFFFF">
              <a:alpha val="6000"/>
            </a:srgbClr>
          </a:solidFill>
          <a:ln w="12700">
            <a:solidFill>
              <a:srgbClr val="D97706">
                <a:alpha val="6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3" name="Text 17"/>
          <p:cNvSpPr/>
          <p:nvPr/>
        </p:nvSpPr>
        <p:spPr>
          <a:xfrm>
            <a:off x="713160" y="4628029"/>
            <a:ext cx="109656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1" u="none" strike="noStrike" dirty="0">
                <a:solidFill>
                  <a:srgbClr val="D97706"/>
                </a:solidFill>
                <a:effectLst/>
                <a:uFillTx/>
                <a:latin typeface="Calibri"/>
                <a:ea typeface="Calibri"/>
              </a:rPr>
              <a:t>Limitations</a:t>
            </a:r>
            <a:endParaRPr lang="en-US" sz="900" b="0" u="none" strike="noStrike" dirty="0">
              <a:solidFill>
                <a:srgbClr val="FFFFFF"/>
              </a:solidFill>
              <a:effectLst/>
              <a:uFillTx/>
              <a:latin typeface="Arial"/>
            </a:endParaRPr>
          </a:p>
        </p:txBody>
      </p:sp>
      <p:sp>
        <p:nvSpPr>
          <p:cNvPr id="264" name="Text 18"/>
          <p:cNvSpPr/>
          <p:nvPr/>
        </p:nvSpPr>
        <p:spPr>
          <a:xfrm>
            <a:off x="713160" y="4810909"/>
            <a:ext cx="777168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i="1" u="none" strike="noStrike" dirty="0">
                <a:solidFill>
                  <a:srgbClr val="94A3B8"/>
                </a:solidFill>
                <a:effectLst/>
                <a:uFillTx/>
                <a:latin typeface="Calibri"/>
                <a:ea typeface="Calibri"/>
              </a:rPr>
              <a:t>North Korea: no World Bank GDP data (3 null rows in fact) · UK GDP per capita not split by nation · Scope 1998–2018 only (no 2022) · Power BI reports in progress</a:t>
            </a:r>
            <a:endParaRPr lang="en-US" sz="900" b="0" u="none" strike="noStrike" dirty="0">
              <a:solidFill>
                <a:srgbClr val="FFFFFF"/>
              </a:solidFill>
              <a:effectLst/>
              <a:uFillTx/>
              <a:latin typeface="Arial"/>
            </a:endParaRPr>
          </a:p>
        </p:txBody>
      </p:sp>
      <p:sp>
        <p:nvSpPr>
          <p:cNvPr id="265" name="Text 19"/>
          <p:cNvSpPr/>
          <p:nvPr/>
        </p:nvSpPr>
        <p:spPr>
          <a:xfrm>
            <a:off x="4827960" y="3401640"/>
            <a:ext cx="376668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0D9488"/>
                </a:solidFill>
                <a:effectLst/>
                <a:uFillTx/>
                <a:latin typeface="Calibri"/>
                <a:ea typeface="Calibri"/>
              </a:rPr>
              <a:t>If we had more time…</a:t>
            </a:r>
            <a:endParaRPr lang="en-US" sz="1100" b="0" u="none" strike="noStrike">
              <a:solidFill>
                <a:srgbClr val="FFFFFF"/>
              </a:solidFill>
              <a:effectLst/>
              <a:uFillTx/>
              <a:latin typeface="Arial"/>
            </a:endParaRPr>
          </a:p>
        </p:txBody>
      </p:sp>
      <p:sp>
        <p:nvSpPr>
          <p:cNvPr id="266" name="Text 20"/>
          <p:cNvSpPr/>
          <p:nvPr/>
        </p:nvSpPr>
        <p:spPr>
          <a:xfrm>
            <a:off x="4827960" y="3675960"/>
            <a:ext cx="376668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94A3B8"/>
                </a:solidFill>
                <a:effectLst/>
                <a:uFillTx/>
                <a:latin typeface="Calibri"/>
                <a:ea typeface="Calibri"/>
              </a:rPr>
              <a:t>Incremental load  ·  Airflow DAG  ·  Sub-UK GDP data  ·  2022 WC edition</a:t>
            </a:r>
            <a:endParaRPr lang="en-US" sz="1000" b="0" u="none" strike="noStrike">
              <a:solidFill>
                <a:srgbClr val="FFFFFF"/>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Rectangle 1"/>
          <p:cNvSpPr/>
          <p:nvPr/>
        </p:nvSpPr>
        <p:spPr>
          <a:xfrm>
            <a:off x="0" y="0"/>
            <a:ext cx="9143640" cy="5143320"/>
          </a:xfrm>
          <a:prstGeom prst="rect">
            <a:avLst/>
          </a:prstGeom>
          <a:solidFill>
            <a:srgbClr val="F1F5F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9" name="Rectangle 2"/>
          <p:cNvSpPr/>
          <p:nvPr/>
        </p:nvSpPr>
        <p:spPr>
          <a:xfrm>
            <a:off x="0" y="0"/>
            <a:ext cx="9143640" cy="639720"/>
          </a:xfrm>
          <a:prstGeom prst="rect">
            <a:avLst/>
          </a:prstGeom>
          <a:solidFill>
            <a:srgbClr val="1C2D4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0" name="TextBox 3"/>
          <p:cNvSpPr/>
          <p:nvPr/>
        </p:nvSpPr>
        <p:spPr>
          <a:xfrm>
            <a:off x="274320" y="91440"/>
            <a:ext cx="6857640" cy="47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400" b="1" u="none" strike="noStrike">
                <a:solidFill>
                  <a:srgbClr val="FFFFFF"/>
                </a:solidFill>
                <a:effectLst/>
                <a:uFillTx/>
                <a:latin typeface="Arial"/>
              </a:rPr>
              <a:t>Retrospective &amp; Lessons Learned</a:t>
            </a:r>
            <a:endParaRPr lang="en-US" sz="2400" b="0" u="none" strike="noStrike">
              <a:solidFill>
                <a:srgbClr val="000000"/>
              </a:solidFill>
              <a:effectLst/>
              <a:uFillTx/>
              <a:latin typeface="Arial"/>
            </a:endParaRPr>
          </a:p>
        </p:txBody>
      </p:sp>
      <p:sp>
        <p:nvSpPr>
          <p:cNvPr id="271" name="Rectangle 4"/>
          <p:cNvSpPr/>
          <p:nvPr/>
        </p:nvSpPr>
        <p:spPr>
          <a:xfrm>
            <a:off x="8366760" y="91440"/>
            <a:ext cx="548280" cy="456840"/>
          </a:xfrm>
          <a:prstGeom prst="rect">
            <a:avLst/>
          </a:prstGeom>
          <a:solidFill>
            <a:srgbClr val="0D9488"/>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2" name="TextBox 5"/>
          <p:cNvSpPr/>
          <p:nvPr/>
        </p:nvSpPr>
        <p:spPr>
          <a:xfrm>
            <a:off x="8366760" y="91440"/>
            <a:ext cx="54828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600" b="1" u="none" strike="noStrike">
                <a:solidFill>
                  <a:srgbClr val="FFFFFF"/>
                </a:solidFill>
                <a:effectLst/>
                <a:uFillTx/>
                <a:latin typeface="Arial"/>
              </a:rPr>
              <a:t>10</a:t>
            </a:r>
            <a:endParaRPr lang="en-US" sz="1600" b="0" u="none" strike="noStrike">
              <a:solidFill>
                <a:srgbClr val="000000"/>
              </a:solidFill>
              <a:effectLst/>
              <a:uFillTx/>
              <a:latin typeface="Arial"/>
            </a:endParaRPr>
          </a:p>
        </p:txBody>
      </p:sp>
      <p:sp>
        <p:nvSpPr>
          <p:cNvPr id="273" name="Rectangle 6"/>
          <p:cNvSpPr/>
          <p:nvPr/>
        </p:nvSpPr>
        <p:spPr>
          <a:xfrm>
            <a:off x="182880" y="777240"/>
            <a:ext cx="2070720" cy="347040"/>
          </a:xfrm>
          <a:prstGeom prst="rect">
            <a:avLst/>
          </a:prstGeom>
          <a:solidFill>
            <a:srgbClr val="1C2D4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4" name="TextBox 7"/>
          <p:cNvSpPr/>
          <p:nvPr/>
        </p:nvSpPr>
        <p:spPr>
          <a:xfrm>
            <a:off x="228600" y="822960"/>
            <a:ext cx="197928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050" b="1" u="none" strike="noStrike">
                <a:solidFill>
                  <a:srgbClr val="FFFFFF"/>
                </a:solidFill>
                <a:effectLst/>
                <a:uFillTx/>
                <a:latin typeface="Arial"/>
              </a:rPr>
              <a:t>AGILE &amp; SCRUM</a:t>
            </a:r>
            <a:endParaRPr lang="en-US" sz="1050" b="0" u="none" strike="noStrike">
              <a:solidFill>
                <a:srgbClr val="000000"/>
              </a:solidFill>
              <a:effectLst/>
              <a:uFillTx/>
              <a:latin typeface="Arial"/>
            </a:endParaRPr>
          </a:p>
        </p:txBody>
      </p:sp>
      <p:sp>
        <p:nvSpPr>
          <p:cNvPr id="275" name="Rectangle 8"/>
          <p:cNvSpPr/>
          <p:nvPr/>
        </p:nvSpPr>
        <p:spPr>
          <a:xfrm>
            <a:off x="182880" y="1124640"/>
            <a:ext cx="2070720" cy="372132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6" name="TextBox 9"/>
          <p:cNvSpPr/>
          <p:nvPr/>
        </p:nvSpPr>
        <p:spPr>
          <a:xfrm>
            <a:off x="255960" y="1179720"/>
            <a:ext cx="1924560" cy="11629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249"/>
              </a:spcBef>
            </a:pPr>
            <a:r>
              <a:rPr lang="en-US" sz="900" b="1" u="none" strike="noStrike" dirty="0">
                <a:solidFill>
                  <a:srgbClr val="1E293B"/>
                </a:solidFill>
                <a:effectLst/>
                <a:uFillTx/>
                <a:latin typeface="Arial"/>
              </a:rPr>
              <a:t>Jira epics → tasks → subtasks</a:t>
            </a:r>
            <a:endParaRPr lang="en-US" sz="900" b="0" u="none" strike="noStrike" dirty="0">
              <a:solidFill>
                <a:srgbClr val="000000"/>
              </a:solidFill>
              <a:effectLst/>
              <a:uFillTx/>
              <a:latin typeface="Arial"/>
            </a:endParaRPr>
          </a:p>
          <a:p>
            <a:pPr>
              <a:lnSpc>
                <a:spcPct val="100000"/>
              </a:lnSpc>
              <a:spcBef>
                <a:spcPts val="249"/>
              </a:spcBef>
            </a:pPr>
            <a:r>
              <a:rPr lang="en-US" sz="900" b="0" u="none" strike="noStrike" dirty="0">
                <a:solidFill>
                  <a:srgbClr val="1E293B"/>
                </a:solidFill>
                <a:effectLst/>
                <a:uFillTx/>
                <a:latin typeface="Arial"/>
              </a:rPr>
              <a:t>› Parts as sprint milestones</a:t>
            </a:r>
            <a:endParaRPr lang="en-US" sz="900" b="0" u="none" strike="noStrike" dirty="0">
              <a:solidFill>
                <a:srgbClr val="000000"/>
              </a:solidFill>
              <a:effectLst/>
              <a:uFillTx/>
              <a:latin typeface="Arial"/>
            </a:endParaRPr>
          </a:p>
          <a:p>
            <a:pPr>
              <a:lnSpc>
                <a:spcPct val="100000"/>
              </a:lnSpc>
              <a:spcBef>
                <a:spcPts val="249"/>
              </a:spcBef>
            </a:pPr>
            <a:r>
              <a:rPr lang="en-US" sz="900" b="0" u="none" strike="noStrike" dirty="0">
                <a:solidFill>
                  <a:srgbClr val="1E293B"/>
                </a:solidFill>
                <a:effectLst/>
                <a:uFillTx/>
                <a:latin typeface="Arial"/>
              </a:rPr>
              <a:t>› 2 parallel working pairs</a:t>
            </a:r>
            <a:endParaRPr lang="en-US" sz="900" b="0" u="none" strike="noStrike" dirty="0">
              <a:solidFill>
                <a:srgbClr val="000000"/>
              </a:solidFill>
              <a:effectLst/>
              <a:uFillTx/>
              <a:latin typeface="Arial"/>
            </a:endParaRPr>
          </a:p>
          <a:p>
            <a:pPr>
              <a:lnSpc>
                <a:spcPct val="100000"/>
              </a:lnSpc>
              <a:spcBef>
                <a:spcPts val="249"/>
              </a:spcBef>
            </a:pPr>
            <a:r>
              <a:rPr lang="en-US" sz="900" b="0" u="none" strike="noStrike" dirty="0">
                <a:solidFill>
                  <a:srgbClr val="1E293B"/>
                </a:solidFill>
                <a:effectLst/>
                <a:uFillTx/>
                <a:latin typeface="Arial"/>
              </a:rPr>
              <a:t>› Daily stand-ups: blockers + task reassignment</a:t>
            </a:r>
            <a:endParaRPr lang="en-US" sz="900" b="0" u="none" strike="noStrike" dirty="0">
              <a:solidFill>
                <a:srgbClr val="000000"/>
              </a:solidFill>
              <a:effectLst/>
              <a:uFillTx/>
              <a:latin typeface="Arial"/>
            </a:endParaRPr>
          </a:p>
          <a:p>
            <a:pPr>
              <a:lnSpc>
                <a:spcPct val="100000"/>
              </a:lnSpc>
              <a:spcBef>
                <a:spcPts val="249"/>
              </a:spcBef>
            </a:pPr>
            <a:r>
              <a:rPr lang="en-US" sz="900" b="0" u="none" strike="noStrike" dirty="0">
                <a:solidFill>
                  <a:srgbClr val="1E293B"/>
                </a:solidFill>
                <a:effectLst/>
                <a:uFillTx/>
                <a:latin typeface="Arial"/>
              </a:rPr>
              <a:t>› Clear ownership per pipeline stage</a:t>
            </a:r>
            <a:endParaRPr lang="en-US" sz="900" b="0" u="none" strike="noStrike" dirty="0">
              <a:solidFill>
                <a:srgbClr val="000000"/>
              </a:solidFill>
              <a:effectLst/>
              <a:uFillTx/>
              <a:latin typeface="Arial"/>
            </a:endParaRPr>
          </a:p>
        </p:txBody>
      </p:sp>
      <p:sp>
        <p:nvSpPr>
          <p:cNvPr id="277" name="Rectangle 10"/>
          <p:cNvSpPr/>
          <p:nvPr/>
        </p:nvSpPr>
        <p:spPr>
          <a:xfrm>
            <a:off x="2418480" y="777240"/>
            <a:ext cx="2070720" cy="347040"/>
          </a:xfrm>
          <a:prstGeom prst="rect">
            <a:avLst/>
          </a:prstGeom>
          <a:solidFill>
            <a:srgbClr val="065A8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8" name="TextBox 11"/>
          <p:cNvSpPr/>
          <p:nvPr/>
        </p:nvSpPr>
        <p:spPr>
          <a:xfrm>
            <a:off x="2464200" y="822960"/>
            <a:ext cx="197928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050" b="1" u="none" strike="noStrike">
                <a:solidFill>
                  <a:srgbClr val="FFFFFF"/>
                </a:solidFill>
                <a:effectLst/>
                <a:uFillTx/>
                <a:latin typeface="Arial"/>
              </a:rPr>
              <a:t>GITHUB WORKFLOW</a:t>
            </a:r>
            <a:endParaRPr lang="en-US" sz="1050" b="0" u="none" strike="noStrike">
              <a:solidFill>
                <a:srgbClr val="000000"/>
              </a:solidFill>
              <a:effectLst/>
              <a:uFillTx/>
              <a:latin typeface="Arial"/>
            </a:endParaRPr>
          </a:p>
        </p:txBody>
      </p:sp>
      <p:sp>
        <p:nvSpPr>
          <p:cNvPr id="279" name="Rectangle 12"/>
          <p:cNvSpPr/>
          <p:nvPr/>
        </p:nvSpPr>
        <p:spPr>
          <a:xfrm>
            <a:off x="2418480" y="1124640"/>
            <a:ext cx="2070720" cy="372132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0" name="TextBox 13"/>
          <p:cNvSpPr/>
          <p:nvPr/>
        </p:nvSpPr>
        <p:spPr>
          <a:xfrm>
            <a:off x="2491920" y="1179720"/>
            <a:ext cx="1924560" cy="28506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249"/>
              </a:spcBef>
            </a:pPr>
            <a:r>
              <a:rPr lang="en-US" sz="900" b="1" u="none" strike="noStrike" dirty="0">
                <a:solidFill>
                  <a:srgbClr val="1E293B"/>
                </a:solidFill>
                <a:effectLst/>
                <a:uFillTx/>
                <a:latin typeface="Arial"/>
              </a:rPr>
              <a:t>Feature branch per task/subtask</a:t>
            </a:r>
            <a:endParaRPr lang="en-US" sz="900" b="0" u="none" strike="noStrike" dirty="0">
              <a:solidFill>
                <a:srgbClr val="000000"/>
              </a:solidFill>
              <a:effectLst/>
              <a:uFillTx/>
              <a:latin typeface="Arial"/>
            </a:endParaRPr>
          </a:p>
          <a:p>
            <a:pPr>
              <a:lnSpc>
                <a:spcPct val="100000"/>
              </a:lnSpc>
              <a:spcBef>
                <a:spcPts val="249"/>
              </a:spcBef>
            </a:pPr>
            <a:r>
              <a:rPr lang="en-US" sz="900" b="0" u="none" strike="noStrike" dirty="0">
                <a:solidFill>
                  <a:srgbClr val="1E293B"/>
                </a:solidFill>
                <a:effectLst/>
                <a:uFillTx/>
                <a:latin typeface="Arial"/>
              </a:rPr>
              <a:t>› </a:t>
            </a:r>
            <a:r>
              <a:rPr lang="en-US" sz="900" b="0" u="none" strike="noStrike" dirty="0">
                <a:solidFill>
                  <a:srgbClr val="000000"/>
                </a:solidFill>
                <a:effectLst/>
                <a:uFillTx/>
                <a:latin typeface="Arial"/>
              </a:rPr>
              <a:t>PRs created but reviews done verbally over video call + screen share rather than via GitHub's native diff view</a:t>
            </a:r>
          </a:p>
          <a:p>
            <a:pPr>
              <a:lnSpc>
                <a:spcPct val="100000"/>
              </a:lnSpc>
              <a:spcBef>
                <a:spcPts val="249"/>
              </a:spcBef>
            </a:pPr>
            <a:r>
              <a:rPr lang="en-US" sz="900" b="0" u="none" strike="noStrike" dirty="0">
                <a:solidFill>
                  <a:srgbClr val="1E293B"/>
                </a:solidFill>
                <a:effectLst/>
                <a:uFillTx/>
                <a:latin typeface="Arial"/>
              </a:rPr>
              <a:t>› </a:t>
            </a:r>
            <a:r>
              <a:rPr lang="en-US" sz="900" b="0" u="none" strike="noStrike" dirty="0">
                <a:solidFill>
                  <a:srgbClr val="000000"/>
                </a:solidFill>
                <a:effectLst/>
                <a:uFillTx/>
                <a:latin typeface="Arial"/>
              </a:rPr>
              <a:t>"Files Changed" tab rarely used: code validated visually by the reviewer watching, not by inspecting the diff</a:t>
            </a:r>
          </a:p>
          <a:p>
            <a:pPr>
              <a:lnSpc>
                <a:spcPct val="100000"/>
              </a:lnSpc>
              <a:spcBef>
                <a:spcPts val="249"/>
              </a:spcBef>
            </a:pPr>
            <a:r>
              <a:rPr lang="en-US" sz="900" b="0" u="none" strike="noStrike" dirty="0">
                <a:solidFill>
                  <a:srgbClr val="1E293B"/>
                </a:solidFill>
                <a:effectLst/>
                <a:uFillTx/>
                <a:latin typeface="Arial"/>
              </a:rPr>
              <a:t>› </a:t>
            </a:r>
            <a:r>
              <a:rPr lang="en-US" sz="900" b="0" u="none" strike="noStrike" dirty="0">
                <a:solidFill>
                  <a:srgbClr val="000000"/>
                </a:solidFill>
                <a:effectLst/>
                <a:uFillTx/>
                <a:latin typeface="Arial"/>
              </a:rPr>
              <a:t>Risk: no written trace of what was reviewed or why changes were approved</a:t>
            </a:r>
          </a:p>
          <a:p>
            <a:pPr>
              <a:lnSpc>
                <a:spcPct val="100000"/>
              </a:lnSpc>
              <a:spcBef>
                <a:spcPts val="249"/>
              </a:spcBef>
            </a:pPr>
            <a:r>
              <a:rPr lang="en-US" sz="900" b="0" u="none" strike="noStrike" dirty="0">
                <a:solidFill>
                  <a:srgbClr val="1E293B"/>
                </a:solidFill>
                <a:effectLst/>
                <a:uFillTx/>
                <a:latin typeface="Arial"/>
              </a:rPr>
              <a:t>› </a:t>
            </a:r>
            <a:r>
              <a:rPr lang="en-US" sz="900" b="0" u="none" strike="noStrike" dirty="0">
                <a:solidFill>
                  <a:srgbClr val="000000"/>
                </a:solidFill>
                <a:effectLst/>
                <a:uFillTx/>
                <a:latin typeface="Arial"/>
              </a:rPr>
              <a:t>Improvement: enforce inline comments on the diff before merge, so the review is documented and async-friendly</a:t>
            </a:r>
          </a:p>
          <a:p>
            <a:pPr>
              <a:lnSpc>
                <a:spcPct val="100000"/>
              </a:lnSpc>
              <a:spcBef>
                <a:spcPts val="249"/>
              </a:spcBef>
            </a:pPr>
            <a:r>
              <a:rPr lang="en-US" sz="900" b="0" u="none" strike="noStrike" dirty="0">
                <a:solidFill>
                  <a:srgbClr val="1E293B"/>
                </a:solidFill>
                <a:effectLst/>
                <a:uFillTx/>
                <a:latin typeface="Arial"/>
              </a:rPr>
              <a:t>› Improvement: standardize naming conventions for commits</a:t>
            </a:r>
            <a:endParaRPr lang="en-US" sz="900" b="0" u="none" strike="noStrike" dirty="0">
              <a:solidFill>
                <a:srgbClr val="000000"/>
              </a:solidFill>
              <a:effectLst/>
              <a:uFillTx/>
              <a:latin typeface="Arial"/>
            </a:endParaRPr>
          </a:p>
        </p:txBody>
      </p:sp>
      <p:sp>
        <p:nvSpPr>
          <p:cNvPr id="281" name="Rectangle 14"/>
          <p:cNvSpPr/>
          <p:nvPr/>
        </p:nvSpPr>
        <p:spPr>
          <a:xfrm>
            <a:off x="4654440" y="777240"/>
            <a:ext cx="2070720" cy="347040"/>
          </a:xfrm>
          <a:prstGeom prst="rect">
            <a:avLst/>
          </a:prstGeom>
          <a:solidFill>
            <a:srgbClr val="0D9488"/>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2" name="TextBox 15"/>
          <p:cNvSpPr/>
          <p:nvPr/>
        </p:nvSpPr>
        <p:spPr>
          <a:xfrm>
            <a:off x="4700160" y="822960"/>
            <a:ext cx="197928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050" b="1" u="none" strike="noStrike">
                <a:solidFill>
                  <a:srgbClr val="FFFFFF"/>
                </a:solidFill>
                <a:effectLst/>
                <a:uFillTx/>
                <a:latin typeface="Arial"/>
              </a:rPr>
              <a:t>WHAT WE'D IMPROVE</a:t>
            </a:r>
            <a:endParaRPr lang="en-US" sz="1050" b="0" u="none" strike="noStrike">
              <a:solidFill>
                <a:srgbClr val="000000"/>
              </a:solidFill>
              <a:effectLst/>
              <a:uFillTx/>
              <a:latin typeface="Arial"/>
            </a:endParaRPr>
          </a:p>
        </p:txBody>
      </p:sp>
      <p:sp>
        <p:nvSpPr>
          <p:cNvPr id="283" name="Rectangle 16"/>
          <p:cNvSpPr/>
          <p:nvPr/>
        </p:nvSpPr>
        <p:spPr>
          <a:xfrm>
            <a:off x="4654440" y="1124640"/>
            <a:ext cx="2070720" cy="372132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4" name="TextBox 17"/>
          <p:cNvSpPr/>
          <p:nvPr/>
        </p:nvSpPr>
        <p:spPr>
          <a:xfrm>
            <a:off x="4727520" y="1179720"/>
            <a:ext cx="1924560" cy="356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249"/>
              </a:spcBef>
            </a:pPr>
            <a:r>
              <a:rPr lang="en-US" sz="900" b="1" u="none" strike="noStrike">
                <a:solidFill>
                  <a:srgbClr val="1E293B"/>
                </a:solidFill>
                <a:effectLst/>
                <a:uFillTx/>
                <a:latin typeface="Arial"/>
              </a:rPr>
              <a:t>Schema validation at Bronze ingestion</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Automated transform tests (pytest)</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CI/CD pipeline for notebooks</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Centralised run logging</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Formal definition of done per task</a:t>
            </a:r>
            <a:endParaRPr lang="en-US" sz="900" b="0" u="none" strike="noStrike">
              <a:solidFill>
                <a:srgbClr val="000000"/>
              </a:solidFill>
              <a:effectLst/>
              <a:uFillTx/>
              <a:latin typeface="Arial"/>
            </a:endParaRPr>
          </a:p>
        </p:txBody>
      </p:sp>
      <p:sp>
        <p:nvSpPr>
          <p:cNvPr id="285" name="Rectangle 18"/>
          <p:cNvSpPr/>
          <p:nvPr/>
        </p:nvSpPr>
        <p:spPr>
          <a:xfrm>
            <a:off x="6890040" y="777240"/>
            <a:ext cx="2070720" cy="347040"/>
          </a:xfrm>
          <a:prstGeom prst="rect">
            <a:avLst/>
          </a:prstGeom>
          <a:solidFill>
            <a:srgbClr val="7C3AE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6" name="TextBox 19"/>
          <p:cNvSpPr/>
          <p:nvPr/>
        </p:nvSpPr>
        <p:spPr>
          <a:xfrm>
            <a:off x="6935760" y="822960"/>
            <a:ext cx="1979280" cy="27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050" b="1" u="none" strike="noStrike">
                <a:solidFill>
                  <a:srgbClr val="FFFFFF"/>
                </a:solidFill>
                <a:effectLst/>
                <a:uFillTx/>
                <a:latin typeface="Arial"/>
              </a:rPr>
              <a:t>FUTURE STEPS</a:t>
            </a:r>
            <a:endParaRPr lang="en-US" sz="1050" b="0" u="none" strike="noStrike">
              <a:solidFill>
                <a:srgbClr val="000000"/>
              </a:solidFill>
              <a:effectLst/>
              <a:uFillTx/>
              <a:latin typeface="Arial"/>
            </a:endParaRPr>
          </a:p>
        </p:txBody>
      </p:sp>
      <p:sp>
        <p:nvSpPr>
          <p:cNvPr id="287" name="Rectangle 20"/>
          <p:cNvSpPr/>
          <p:nvPr/>
        </p:nvSpPr>
        <p:spPr>
          <a:xfrm>
            <a:off x="6890040" y="1124640"/>
            <a:ext cx="2070720" cy="372132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8" name="TextBox 21"/>
          <p:cNvSpPr/>
          <p:nvPr/>
        </p:nvSpPr>
        <p:spPr>
          <a:xfrm>
            <a:off x="6963120" y="1179720"/>
            <a:ext cx="1924560" cy="356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249"/>
              </a:spcBef>
            </a:pPr>
            <a:r>
              <a:rPr lang="en-US" sz="900" b="1" u="none" strike="noStrike">
                <a:solidFill>
                  <a:srgbClr val="1E293B"/>
                </a:solidFill>
                <a:effectLst/>
                <a:uFillTx/>
                <a:latin typeface="Arial"/>
              </a:rPr>
              <a:t>Extend to all WC editions (1930–)</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Add HDI, inequality &amp; education data</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ML model: predict tournament outcomes</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Real-time ingestion for live WC data</a:t>
            </a:r>
            <a:endParaRPr lang="en-US" sz="900" b="0" u="none" strike="noStrike">
              <a:solidFill>
                <a:srgbClr val="000000"/>
              </a:solidFill>
              <a:effectLst/>
              <a:uFillTx/>
              <a:latin typeface="Arial"/>
            </a:endParaRPr>
          </a:p>
          <a:p>
            <a:pPr>
              <a:lnSpc>
                <a:spcPct val="100000"/>
              </a:lnSpc>
              <a:spcBef>
                <a:spcPts val="249"/>
              </a:spcBef>
            </a:pPr>
            <a:r>
              <a:rPr lang="en-US" sz="900" b="0" u="none" strike="noStrike">
                <a:solidFill>
                  <a:srgbClr val="1E293B"/>
                </a:solidFill>
                <a:effectLst/>
                <a:uFillTx/>
                <a:latin typeface="Arial"/>
              </a:rPr>
              <a:t>› Deploy via Azure Data Factory</a:t>
            </a:r>
            <a:endParaRPr lang="en-US" sz="9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2487</Words>
  <Application>Microsoft Office PowerPoint</Application>
  <PresentationFormat>On-screen Show (16:9)</PresentationFormat>
  <Paragraphs>254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FIFA World Cup Socioeconomic Analysis</dc:title>
  <dc:subject>PptxGenJS Presentation</dc:subject>
  <dc:creator>PptxGenJS</dc:creator>
  <dc:description/>
  <cp:lastModifiedBy>Robin Faure</cp:lastModifiedBy>
  <cp:revision>9</cp:revision>
  <dcterms:created xsi:type="dcterms:W3CDTF">2026-07-02T07:52:00Z</dcterms:created>
  <dcterms:modified xsi:type="dcterms:W3CDTF">2026-07-02T11:55:28Z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9</vt:r8>
  </property>
  <property fmtid="{D5CDD505-2E9C-101B-9397-08002B2CF9AE}" pid="3" name="PresentationFormat">
    <vt:lpwstr>On-screen Show (16:9)</vt:lpwstr>
  </property>
  <property fmtid="{D5CDD505-2E9C-101B-9397-08002B2CF9AE}" pid="4" name="Slides">
    <vt:r8>9</vt:r8>
  </property>
</Properties>
</file>